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Calibri" panose="020F0502020204030204" pitchFamily="34" charset="0"/>
      <p:regular r:id="rId14"/>
      <p:bold r:id="rId15"/>
    </p:embeddedFont>
    <p:embeddedFont>
      <p:font typeface="Inter" panose="020B0604020202020204" charset="0"/>
      <p:regular r:id="rId16"/>
    </p:embeddedFont>
    <p:embeddedFont>
      <p:font typeface="Inter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4" d="100"/>
          <a:sy n="54" d="100"/>
        </p:scale>
        <p:origin x="754"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3.svg"/><Relationship Id="rId7"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7.svg"/><Relationship Id="rId4" Type="http://schemas.openxmlformats.org/officeDocument/2006/relationships/image" Target="../media/image6.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3363317" y="1028700"/>
            <a:ext cx="2744722" cy="622420"/>
            <a:chOff x="0" y="0"/>
            <a:chExt cx="722890" cy="163930"/>
          </a:xfrm>
        </p:grpSpPr>
        <p:sp>
          <p:nvSpPr>
            <p:cNvPr id="3" name="Freeform 3"/>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4" name="TextBox 4"/>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2285950"/>
            <a:ext cx="12685093" cy="5784375"/>
          </a:xfrm>
          <a:prstGeom prst="rect">
            <a:avLst/>
          </a:prstGeom>
        </p:spPr>
        <p:txBody>
          <a:bodyPr lIns="0" tIns="0" rIns="0" bIns="0" rtlCol="0" anchor="t">
            <a:spAutoFit/>
          </a:bodyPr>
          <a:lstStyle/>
          <a:p>
            <a:pPr algn="l">
              <a:lnSpc>
                <a:spcPts val="15083"/>
              </a:lnSpc>
            </a:pPr>
            <a:r>
              <a:rPr lang="en-US" sz="13712">
                <a:solidFill>
                  <a:srgbClr val="000000"/>
                </a:solidFill>
                <a:latin typeface="Inter"/>
                <a:ea typeface="Inter"/>
                <a:cs typeface="Inter"/>
                <a:sym typeface="Inter"/>
              </a:rPr>
              <a:t>Autonomous Vehicle Perception</a:t>
            </a:r>
          </a:p>
        </p:txBody>
      </p:sp>
      <p:sp>
        <p:nvSpPr>
          <p:cNvPr id="6" name="TextBox 6"/>
          <p:cNvSpPr txBox="1"/>
          <p:nvPr/>
        </p:nvSpPr>
        <p:spPr>
          <a:xfrm>
            <a:off x="13534006"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May 14, 2026</a:t>
            </a:r>
          </a:p>
        </p:txBody>
      </p:sp>
      <p:sp>
        <p:nvSpPr>
          <p:cNvPr id="7" name="AutoShape 7"/>
          <p:cNvSpPr/>
          <p:nvPr/>
        </p:nvSpPr>
        <p:spPr>
          <a:xfrm>
            <a:off x="953566" y="8048457"/>
            <a:ext cx="16305734" cy="0"/>
          </a:xfrm>
          <a:prstGeom prst="line">
            <a:avLst/>
          </a:prstGeom>
          <a:ln w="19050" cap="flat">
            <a:solidFill>
              <a:srgbClr val="000000"/>
            </a:solidFill>
            <a:prstDash val="solid"/>
            <a:headEnd type="none" w="sm" len="sm"/>
            <a:tailEnd type="none" w="sm" len="sm"/>
          </a:ln>
        </p:spPr>
      </p:sp>
      <p:sp>
        <p:nvSpPr>
          <p:cNvPr id="8" name="TextBox 8"/>
          <p:cNvSpPr txBox="1"/>
          <p:nvPr/>
        </p:nvSpPr>
        <p:spPr>
          <a:xfrm>
            <a:off x="1028700" y="8586933"/>
            <a:ext cx="1651737" cy="281559"/>
          </a:xfrm>
          <a:prstGeom prst="rect">
            <a:avLst/>
          </a:prstGeom>
        </p:spPr>
        <p:txBody>
          <a:bodyPr lIns="0" tIns="0" rIns="0" bIns="0" rtlCol="0" anchor="t">
            <a:spAutoFit/>
          </a:bodyPr>
          <a:lstStyle/>
          <a:p>
            <a:pPr algn="l">
              <a:lnSpc>
                <a:spcPts val="2268"/>
              </a:lnSpc>
            </a:pPr>
            <a:r>
              <a:rPr lang="en-US" sz="1800" b="1" spc="-100">
                <a:solidFill>
                  <a:srgbClr val="101010"/>
                </a:solidFill>
                <a:latin typeface="Inter Bold"/>
                <a:ea typeface="Inter Bold"/>
                <a:cs typeface="Inter Bold"/>
                <a:sym typeface="Inter Bold"/>
              </a:rPr>
              <a:t>Presented by :</a:t>
            </a:r>
          </a:p>
        </p:txBody>
      </p:sp>
      <p:sp>
        <p:nvSpPr>
          <p:cNvPr id="9" name="TextBox 9"/>
          <p:cNvSpPr txBox="1"/>
          <p:nvPr/>
        </p:nvSpPr>
        <p:spPr>
          <a:xfrm>
            <a:off x="1028700" y="8978265"/>
            <a:ext cx="3450154" cy="567309"/>
          </a:xfrm>
          <a:prstGeom prst="rect">
            <a:avLst/>
          </a:prstGeom>
        </p:spPr>
        <p:txBody>
          <a:bodyPr lIns="0" tIns="0" rIns="0" bIns="0" rtlCol="0" anchor="t">
            <a:spAutoFit/>
          </a:bodyPr>
          <a:lstStyle/>
          <a:p>
            <a:pPr algn="l">
              <a:lnSpc>
                <a:spcPts val="2268"/>
              </a:lnSpc>
            </a:pPr>
            <a:r>
              <a:rPr lang="en-US" sz="1800" spc="-100">
                <a:solidFill>
                  <a:srgbClr val="101010"/>
                </a:solidFill>
                <a:latin typeface="Inter"/>
                <a:ea typeface="Inter"/>
                <a:cs typeface="Inter"/>
                <a:sym typeface="Inter"/>
              </a:rPr>
              <a:t>Ahmed, Amr, Basel, George and Mohamed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8694704" y="407948"/>
            <a:ext cx="9045179" cy="9471105"/>
            <a:chOff x="0" y="0"/>
            <a:chExt cx="2382269" cy="2494447"/>
          </a:xfrm>
        </p:grpSpPr>
        <p:sp>
          <p:nvSpPr>
            <p:cNvPr id="3" name="Freeform 3"/>
            <p:cNvSpPr/>
            <p:nvPr/>
          </p:nvSpPr>
          <p:spPr>
            <a:xfrm>
              <a:off x="0" y="0"/>
              <a:ext cx="2382269" cy="2494447"/>
            </a:xfrm>
            <a:custGeom>
              <a:avLst/>
              <a:gdLst/>
              <a:ahLst/>
              <a:cxnLst/>
              <a:rect l="l" t="t" r="r" b="b"/>
              <a:pathLst>
                <a:path w="2382269" h="2494447">
                  <a:moveTo>
                    <a:pt x="43652" y="0"/>
                  </a:moveTo>
                  <a:lnTo>
                    <a:pt x="2338618" y="0"/>
                  </a:lnTo>
                  <a:cubicBezTo>
                    <a:pt x="2362726" y="0"/>
                    <a:pt x="2382269" y="19544"/>
                    <a:pt x="2382269" y="43652"/>
                  </a:cubicBezTo>
                  <a:lnTo>
                    <a:pt x="2382269" y="2450796"/>
                  </a:lnTo>
                  <a:cubicBezTo>
                    <a:pt x="2382269" y="2474904"/>
                    <a:pt x="2362726" y="2494447"/>
                    <a:pt x="2338618" y="2494447"/>
                  </a:cubicBezTo>
                  <a:lnTo>
                    <a:pt x="43652" y="2494447"/>
                  </a:lnTo>
                  <a:cubicBezTo>
                    <a:pt x="19544" y="2494447"/>
                    <a:pt x="0" y="2474904"/>
                    <a:pt x="0" y="2450796"/>
                  </a:cubicBezTo>
                  <a:lnTo>
                    <a:pt x="0" y="43652"/>
                  </a:lnTo>
                  <a:cubicBezTo>
                    <a:pt x="0" y="19544"/>
                    <a:pt x="19544" y="0"/>
                    <a:pt x="43652" y="0"/>
                  </a:cubicBezTo>
                  <a:close/>
                </a:path>
              </a:pathLst>
            </a:custGeom>
            <a:solidFill>
              <a:srgbClr val="101010"/>
            </a:solidFill>
          </p:spPr>
        </p:sp>
        <p:sp>
          <p:nvSpPr>
            <p:cNvPr id="4" name="TextBox 4"/>
            <p:cNvSpPr txBox="1"/>
            <p:nvPr/>
          </p:nvSpPr>
          <p:spPr>
            <a:xfrm>
              <a:off x="0" y="-38100"/>
              <a:ext cx="2382269" cy="253254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5920740"/>
            <a:ext cx="6683110" cy="3337560"/>
          </a:xfrm>
          <a:prstGeom prst="rect">
            <a:avLst/>
          </a:prstGeom>
        </p:spPr>
        <p:txBody>
          <a:bodyPr lIns="0" tIns="0" rIns="0" bIns="0" rtlCol="0" anchor="t">
            <a:spAutoFit/>
          </a:bodyPr>
          <a:lstStyle/>
          <a:p>
            <a:pPr algn="l">
              <a:lnSpc>
                <a:spcPts val="13439"/>
              </a:lnSpc>
            </a:pPr>
            <a:r>
              <a:rPr lang="en-US" sz="9600">
                <a:solidFill>
                  <a:srgbClr val="000000"/>
                </a:solidFill>
                <a:latin typeface="Inter"/>
                <a:ea typeface="Inter"/>
                <a:cs typeface="Inter"/>
                <a:sym typeface="Inter"/>
              </a:rPr>
              <a:t>Today’s Agenda</a:t>
            </a:r>
          </a:p>
        </p:txBody>
      </p:sp>
      <p:sp>
        <p:nvSpPr>
          <p:cNvPr id="6" name="TextBox 6"/>
          <p:cNvSpPr txBox="1"/>
          <p:nvPr/>
        </p:nvSpPr>
        <p:spPr>
          <a:xfrm>
            <a:off x="9573448" y="1381915"/>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01</a:t>
            </a:r>
          </a:p>
        </p:txBody>
      </p:sp>
      <p:sp>
        <p:nvSpPr>
          <p:cNvPr id="7" name="TextBox 7"/>
          <p:cNvSpPr txBox="1"/>
          <p:nvPr/>
        </p:nvSpPr>
        <p:spPr>
          <a:xfrm>
            <a:off x="9573448" y="2548173"/>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02</a:t>
            </a:r>
          </a:p>
        </p:txBody>
      </p:sp>
      <p:sp>
        <p:nvSpPr>
          <p:cNvPr id="8" name="TextBox 8"/>
          <p:cNvSpPr txBox="1"/>
          <p:nvPr/>
        </p:nvSpPr>
        <p:spPr>
          <a:xfrm>
            <a:off x="10768436" y="1381915"/>
            <a:ext cx="5466983"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Introduction &amp; Data Foundation</a:t>
            </a:r>
          </a:p>
        </p:txBody>
      </p:sp>
      <p:sp>
        <p:nvSpPr>
          <p:cNvPr id="9" name="TextBox 9"/>
          <p:cNvSpPr txBox="1"/>
          <p:nvPr/>
        </p:nvSpPr>
        <p:spPr>
          <a:xfrm>
            <a:off x="10768436" y="2573535"/>
            <a:ext cx="5466983"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Baseline Development &amp; Classical ML</a:t>
            </a:r>
          </a:p>
        </p:txBody>
      </p:sp>
      <p:sp>
        <p:nvSpPr>
          <p:cNvPr id="10" name="TextBox 10"/>
          <p:cNvSpPr txBox="1"/>
          <p:nvPr/>
        </p:nvSpPr>
        <p:spPr>
          <a:xfrm>
            <a:off x="9573448" y="3760985"/>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03</a:t>
            </a:r>
          </a:p>
        </p:txBody>
      </p:sp>
      <p:sp>
        <p:nvSpPr>
          <p:cNvPr id="11" name="TextBox 11"/>
          <p:cNvSpPr txBox="1"/>
          <p:nvPr/>
        </p:nvSpPr>
        <p:spPr>
          <a:xfrm>
            <a:off x="10768436" y="3760985"/>
            <a:ext cx="5803347"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Neural Perception &amp; Noise Reconstruction</a:t>
            </a:r>
          </a:p>
        </p:txBody>
      </p:sp>
      <p:sp>
        <p:nvSpPr>
          <p:cNvPr id="12" name="TextBox 12"/>
          <p:cNvSpPr txBox="1"/>
          <p:nvPr/>
        </p:nvSpPr>
        <p:spPr>
          <a:xfrm>
            <a:off x="9573448" y="4832350"/>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04</a:t>
            </a:r>
          </a:p>
        </p:txBody>
      </p:sp>
      <p:sp>
        <p:nvSpPr>
          <p:cNvPr id="13" name="TextBox 13"/>
          <p:cNvSpPr txBox="1"/>
          <p:nvPr/>
        </p:nvSpPr>
        <p:spPr>
          <a:xfrm>
            <a:off x="10768436" y="4832350"/>
            <a:ext cx="5466983"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Temporal Feature Engineering</a:t>
            </a:r>
          </a:p>
        </p:txBody>
      </p:sp>
      <p:sp>
        <p:nvSpPr>
          <p:cNvPr id="14" name="TextBox 14"/>
          <p:cNvSpPr txBox="1"/>
          <p:nvPr/>
        </p:nvSpPr>
        <p:spPr>
          <a:xfrm>
            <a:off x="9573448" y="5800725"/>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05</a:t>
            </a:r>
          </a:p>
        </p:txBody>
      </p:sp>
      <p:sp>
        <p:nvSpPr>
          <p:cNvPr id="15" name="TextBox 15"/>
          <p:cNvSpPr txBox="1"/>
          <p:nvPr/>
        </p:nvSpPr>
        <p:spPr>
          <a:xfrm>
            <a:off x="10768436" y="5781040"/>
            <a:ext cx="5466983"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Sequential Model Zoo: RNN &amp; GRU</a:t>
            </a:r>
          </a:p>
        </p:txBody>
      </p:sp>
      <p:sp>
        <p:nvSpPr>
          <p:cNvPr id="16" name="TextBox 16"/>
          <p:cNvSpPr txBox="1"/>
          <p:nvPr/>
        </p:nvSpPr>
        <p:spPr>
          <a:xfrm>
            <a:off x="9573448" y="6730365"/>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06</a:t>
            </a:r>
          </a:p>
        </p:txBody>
      </p:sp>
      <p:sp>
        <p:nvSpPr>
          <p:cNvPr id="17" name="TextBox 17"/>
          <p:cNvSpPr txBox="1"/>
          <p:nvPr/>
        </p:nvSpPr>
        <p:spPr>
          <a:xfrm>
            <a:off x="10768436" y="6730365"/>
            <a:ext cx="6490864"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Advanced Attention &amp; Transformer Architectures</a:t>
            </a:r>
          </a:p>
        </p:txBody>
      </p:sp>
      <p:sp>
        <p:nvSpPr>
          <p:cNvPr id="18" name="TextBox 18"/>
          <p:cNvSpPr txBox="1"/>
          <p:nvPr/>
        </p:nvSpPr>
        <p:spPr>
          <a:xfrm>
            <a:off x="9573448" y="7611670"/>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07</a:t>
            </a:r>
          </a:p>
        </p:txBody>
      </p:sp>
      <p:sp>
        <p:nvSpPr>
          <p:cNvPr id="19" name="TextBox 19"/>
          <p:cNvSpPr txBox="1"/>
          <p:nvPr/>
        </p:nvSpPr>
        <p:spPr>
          <a:xfrm>
            <a:off x="10768436" y="7611670"/>
            <a:ext cx="6490864"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Unified Training &amp; Experimental Framework</a:t>
            </a:r>
          </a:p>
        </p:txBody>
      </p:sp>
      <p:sp>
        <p:nvSpPr>
          <p:cNvPr id="20" name="TextBox 20"/>
          <p:cNvSpPr txBox="1"/>
          <p:nvPr/>
        </p:nvSpPr>
        <p:spPr>
          <a:xfrm>
            <a:off x="9573448" y="8608621"/>
            <a:ext cx="930834"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08</a:t>
            </a:r>
          </a:p>
        </p:txBody>
      </p:sp>
      <p:sp>
        <p:nvSpPr>
          <p:cNvPr id="21" name="TextBox 21"/>
          <p:cNvSpPr txBox="1"/>
          <p:nvPr/>
        </p:nvSpPr>
        <p:spPr>
          <a:xfrm>
            <a:off x="10768436" y="8608621"/>
            <a:ext cx="4192382" cy="311150"/>
          </a:xfrm>
          <a:prstGeom prst="rect">
            <a:avLst/>
          </a:prstGeom>
        </p:spPr>
        <p:txBody>
          <a:bodyPr lIns="0" tIns="0" rIns="0" bIns="0" rtlCol="0" anchor="t">
            <a:spAutoFit/>
          </a:bodyPr>
          <a:lstStyle/>
          <a:p>
            <a:pPr algn="l">
              <a:lnSpc>
                <a:spcPts val="2350"/>
              </a:lnSpc>
            </a:pPr>
            <a:r>
              <a:rPr lang="en-US" sz="2500" spc="-117">
                <a:solidFill>
                  <a:srgbClr val="F8F8F8"/>
                </a:solidFill>
                <a:latin typeface="Inter"/>
                <a:ea typeface="Inter"/>
                <a:cs typeface="Inter"/>
                <a:sym typeface="Inter"/>
              </a:rPr>
              <a:t>Evaluation &amp; Robustness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2492306" y="-206665"/>
            <a:ext cx="5999362" cy="4744221"/>
            <a:chOff x="0" y="0"/>
            <a:chExt cx="929458" cy="735004"/>
          </a:xfrm>
        </p:grpSpPr>
        <p:sp>
          <p:nvSpPr>
            <p:cNvPr id="3" name="Freeform 3"/>
            <p:cNvSpPr/>
            <p:nvPr/>
          </p:nvSpPr>
          <p:spPr>
            <a:xfrm>
              <a:off x="0" y="0"/>
              <a:ext cx="929458" cy="735004"/>
            </a:xfrm>
            <a:custGeom>
              <a:avLst/>
              <a:gdLst/>
              <a:ahLst/>
              <a:cxnLst/>
              <a:rect l="l" t="t" r="r" b="b"/>
              <a:pathLst>
                <a:path w="929458" h="735004">
                  <a:moveTo>
                    <a:pt x="0" y="0"/>
                  </a:moveTo>
                  <a:lnTo>
                    <a:pt x="929458" y="0"/>
                  </a:lnTo>
                  <a:lnTo>
                    <a:pt x="929458" y="735004"/>
                  </a:lnTo>
                  <a:lnTo>
                    <a:pt x="0" y="735004"/>
                  </a:lnTo>
                  <a:close/>
                </a:path>
              </a:pathLst>
            </a:custGeom>
            <a:blipFill>
              <a:blip r:embed="rId2"/>
              <a:stretch>
                <a:fillRect l="-23733" r="-23733"/>
              </a:stretch>
            </a:blipFill>
          </p:spPr>
        </p:sp>
      </p:grpSp>
      <p:grpSp>
        <p:nvGrpSpPr>
          <p:cNvPr id="4" name="Group 4"/>
          <p:cNvGrpSpPr/>
          <p:nvPr/>
        </p:nvGrpSpPr>
        <p:grpSpPr>
          <a:xfrm>
            <a:off x="6661325" y="4537556"/>
            <a:ext cx="5830981" cy="5749444"/>
            <a:chOff x="0" y="0"/>
            <a:chExt cx="903372" cy="890739"/>
          </a:xfrm>
        </p:grpSpPr>
        <p:sp>
          <p:nvSpPr>
            <p:cNvPr id="5" name="Freeform 5"/>
            <p:cNvSpPr/>
            <p:nvPr/>
          </p:nvSpPr>
          <p:spPr>
            <a:xfrm>
              <a:off x="0" y="0"/>
              <a:ext cx="903372" cy="890739"/>
            </a:xfrm>
            <a:custGeom>
              <a:avLst/>
              <a:gdLst/>
              <a:ahLst/>
              <a:cxnLst/>
              <a:rect l="l" t="t" r="r" b="b"/>
              <a:pathLst>
                <a:path w="903372" h="890739">
                  <a:moveTo>
                    <a:pt x="0" y="0"/>
                  </a:moveTo>
                  <a:lnTo>
                    <a:pt x="903372" y="0"/>
                  </a:lnTo>
                  <a:lnTo>
                    <a:pt x="903372" y="890739"/>
                  </a:lnTo>
                  <a:lnTo>
                    <a:pt x="0" y="890739"/>
                  </a:lnTo>
                  <a:close/>
                </a:path>
              </a:pathLst>
            </a:custGeom>
            <a:blipFill>
              <a:blip r:embed="rId3"/>
              <a:stretch>
                <a:fillRect l="-23997" r="-23997"/>
              </a:stretch>
            </a:blipFill>
          </p:spPr>
        </p:sp>
      </p:grpSp>
      <p:sp>
        <p:nvSpPr>
          <p:cNvPr id="6" name="TextBox 6"/>
          <p:cNvSpPr txBox="1"/>
          <p:nvPr/>
        </p:nvSpPr>
        <p:spPr>
          <a:xfrm>
            <a:off x="1028700" y="809625"/>
            <a:ext cx="7890854" cy="1907259"/>
          </a:xfrm>
          <a:prstGeom prst="rect">
            <a:avLst/>
          </a:prstGeom>
        </p:spPr>
        <p:txBody>
          <a:bodyPr lIns="0" tIns="0" rIns="0" bIns="0" rtlCol="0" anchor="t">
            <a:spAutoFit/>
          </a:bodyPr>
          <a:lstStyle/>
          <a:p>
            <a:pPr algn="l">
              <a:lnSpc>
                <a:spcPts val="15508"/>
              </a:lnSpc>
            </a:pPr>
            <a:r>
              <a:rPr lang="en-US" sz="11077">
                <a:solidFill>
                  <a:srgbClr val="000000"/>
                </a:solidFill>
                <a:latin typeface="Inter"/>
                <a:ea typeface="Inter"/>
                <a:cs typeface="Inter"/>
                <a:sym typeface="Inter"/>
              </a:rPr>
              <a:t>Introduction</a:t>
            </a:r>
          </a:p>
        </p:txBody>
      </p:sp>
      <p:sp>
        <p:nvSpPr>
          <p:cNvPr id="7" name="TextBox 7"/>
          <p:cNvSpPr txBox="1"/>
          <p:nvPr/>
        </p:nvSpPr>
        <p:spPr>
          <a:xfrm>
            <a:off x="340062" y="6480071"/>
            <a:ext cx="6108080" cy="1435339"/>
          </a:xfrm>
          <a:prstGeom prst="rect">
            <a:avLst/>
          </a:prstGeom>
        </p:spPr>
        <p:txBody>
          <a:bodyPr lIns="0" tIns="0" rIns="0" bIns="0" rtlCol="0" anchor="t">
            <a:spAutoFit/>
          </a:bodyPr>
          <a:lstStyle/>
          <a:p>
            <a:pPr algn="l">
              <a:lnSpc>
                <a:spcPts val="2344"/>
              </a:lnSpc>
            </a:pPr>
            <a:r>
              <a:rPr lang="en-US" sz="1860" spc="-104">
                <a:solidFill>
                  <a:srgbClr val="101010"/>
                </a:solidFill>
                <a:latin typeface="Inter"/>
                <a:ea typeface="Inter"/>
                <a:cs typeface="Inter"/>
                <a:sym typeface="Inter"/>
              </a:rPr>
              <a:t>AutoVision-Perception is a smart camera system designed to make driving safer. It uses artificial intelligence to watch both the road and the driver at the same time. By detecting road signs, pedestrians, and signs of driver tiredness, the project provides a full safety solution for modern vehicles.</a:t>
            </a:r>
          </a:p>
        </p:txBody>
      </p:sp>
      <p:sp>
        <p:nvSpPr>
          <p:cNvPr id="8" name="TextBox 8"/>
          <p:cNvSpPr txBox="1"/>
          <p:nvPr/>
        </p:nvSpPr>
        <p:spPr>
          <a:xfrm>
            <a:off x="12889843" y="6754618"/>
            <a:ext cx="5204289" cy="2312060"/>
          </a:xfrm>
          <a:prstGeom prst="rect">
            <a:avLst/>
          </a:prstGeom>
        </p:spPr>
        <p:txBody>
          <a:bodyPr lIns="0" tIns="0" rIns="0" bIns="0" rtlCol="0" anchor="t">
            <a:spAutoFit/>
          </a:bodyPr>
          <a:lstStyle/>
          <a:p>
            <a:pPr algn="l">
              <a:lnSpc>
                <a:spcPts val="2696"/>
              </a:lnSpc>
            </a:pPr>
            <a:r>
              <a:rPr lang="en-US" sz="2140" spc="-119">
                <a:solidFill>
                  <a:srgbClr val="101010"/>
                </a:solidFill>
                <a:latin typeface="Inter"/>
                <a:ea typeface="Inter"/>
                <a:cs typeface="Inter"/>
                <a:sym typeface="Inter"/>
              </a:rPr>
              <a:t>By combining deep learning models with real-time data processing, the system transforms standard camera feeds into an intelligent safety network. This allows the software to react to hazards in milliseconds, ensuring that the vehicle remains aware of its surroundings even when the driver is distracted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1010"/>
        </a:solidFill>
        <a:effectLst/>
      </p:bgPr>
    </p:bg>
    <p:spTree>
      <p:nvGrpSpPr>
        <p:cNvPr id="1" name=""/>
        <p:cNvGrpSpPr/>
        <p:nvPr/>
      </p:nvGrpSpPr>
      <p:grpSpPr>
        <a:xfrm>
          <a:off x="0" y="0"/>
          <a:ext cx="0" cy="0"/>
          <a:chOff x="0" y="0"/>
          <a:chExt cx="0" cy="0"/>
        </a:xfrm>
      </p:grpSpPr>
      <p:grpSp>
        <p:nvGrpSpPr>
          <p:cNvPr id="2" name="Group 2"/>
          <p:cNvGrpSpPr/>
          <p:nvPr/>
        </p:nvGrpSpPr>
        <p:grpSpPr>
          <a:xfrm>
            <a:off x="407112" y="1047750"/>
            <a:ext cx="3688258" cy="717767"/>
            <a:chOff x="0" y="0"/>
            <a:chExt cx="971393" cy="189042"/>
          </a:xfrm>
        </p:grpSpPr>
        <p:sp>
          <p:nvSpPr>
            <p:cNvPr id="3" name="Freeform 3"/>
            <p:cNvSpPr/>
            <p:nvPr/>
          </p:nvSpPr>
          <p:spPr>
            <a:xfrm>
              <a:off x="0" y="0"/>
              <a:ext cx="971393" cy="189042"/>
            </a:xfrm>
            <a:custGeom>
              <a:avLst/>
              <a:gdLst/>
              <a:ahLst/>
              <a:cxnLst/>
              <a:rect l="l" t="t" r="r" b="b"/>
              <a:pathLst>
                <a:path w="971393" h="189042">
                  <a:moveTo>
                    <a:pt x="94521" y="0"/>
                  </a:moveTo>
                  <a:lnTo>
                    <a:pt x="876872" y="0"/>
                  </a:lnTo>
                  <a:cubicBezTo>
                    <a:pt x="929075" y="0"/>
                    <a:pt x="971393" y="42318"/>
                    <a:pt x="971393" y="94521"/>
                  </a:cubicBezTo>
                  <a:lnTo>
                    <a:pt x="971393" y="94521"/>
                  </a:lnTo>
                  <a:cubicBezTo>
                    <a:pt x="971393" y="119589"/>
                    <a:pt x="961435" y="143631"/>
                    <a:pt x="943709" y="161357"/>
                  </a:cubicBezTo>
                  <a:cubicBezTo>
                    <a:pt x="925983" y="179083"/>
                    <a:pt x="901941" y="189042"/>
                    <a:pt x="876872" y="189042"/>
                  </a:cubicBezTo>
                  <a:lnTo>
                    <a:pt x="94521" y="189042"/>
                  </a:lnTo>
                  <a:cubicBezTo>
                    <a:pt x="42318" y="189042"/>
                    <a:pt x="0" y="146723"/>
                    <a:pt x="0" y="94521"/>
                  </a:cubicBezTo>
                  <a:lnTo>
                    <a:pt x="0" y="94521"/>
                  </a:lnTo>
                  <a:cubicBezTo>
                    <a:pt x="0" y="42318"/>
                    <a:pt x="42318" y="0"/>
                    <a:pt x="94521" y="0"/>
                  </a:cubicBezTo>
                  <a:close/>
                </a:path>
              </a:pathLst>
            </a:custGeom>
            <a:solidFill>
              <a:srgbClr val="F8F8F8"/>
            </a:solidFill>
          </p:spPr>
        </p:sp>
        <p:sp>
          <p:nvSpPr>
            <p:cNvPr id="4" name="TextBox 4"/>
            <p:cNvSpPr txBox="1"/>
            <p:nvPr/>
          </p:nvSpPr>
          <p:spPr>
            <a:xfrm>
              <a:off x="0" y="66675"/>
              <a:ext cx="971393" cy="122367"/>
            </a:xfrm>
            <a:prstGeom prst="rect">
              <a:avLst/>
            </a:prstGeom>
          </p:spPr>
          <p:txBody>
            <a:bodyPr lIns="50800" tIns="50800" rIns="50800" bIns="50800" rtlCol="0" anchor="ctr"/>
            <a:lstStyle/>
            <a:p>
              <a:pPr algn="ctr">
                <a:lnSpc>
                  <a:spcPts val="2350"/>
                </a:lnSpc>
              </a:pPr>
              <a:endParaRPr/>
            </a:p>
          </p:txBody>
        </p:sp>
      </p:grpSp>
      <p:grpSp>
        <p:nvGrpSpPr>
          <p:cNvPr id="5" name="Group 5"/>
          <p:cNvGrpSpPr/>
          <p:nvPr/>
        </p:nvGrpSpPr>
        <p:grpSpPr>
          <a:xfrm>
            <a:off x="7350268" y="1028700"/>
            <a:ext cx="3494888" cy="762434"/>
            <a:chOff x="0" y="0"/>
            <a:chExt cx="920464" cy="200806"/>
          </a:xfrm>
        </p:grpSpPr>
        <p:sp>
          <p:nvSpPr>
            <p:cNvPr id="6" name="Freeform 6"/>
            <p:cNvSpPr/>
            <p:nvPr/>
          </p:nvSpPr>
          <p:spPr>
            <a:xfrm>
              <a:off x="0" y="0"/>
              <a:ext cx="920464" cy="200806"/>
            </a:xfrm>
            <a:custGeom>
              <a:avLst/>
              <a:gdLst/>
              <a:ahLst/>
              <a:cxnLst/>
              <a:rect l="l" t="t" r="r" b="b"/>
              <a:pathLst>
                <a:path w="920464" h="200806">
                  <a:moveTo>
                    <a:pt x="100403" y="0"/>
                  </a:moveTo>
                  <a:lnTo>
                    <a:pt x="820062" y="0"/>
                  </a:lnTo>
                  <a:cubicBezTo>
                    <a:pt x="875513" y="0"/>
                    <a:pt x="920464" y="44952"/>
                    <a:pt x="920464" y="100403"/>
                  </a:cubicBezTo>
                  <a:lnTo>
                    <a:pt x="920464" y="100403"/>
                  </a:lnTo>
                  <a:cubicBezTo>
                    <a:pt x="920464" y="155854"/>
                    <a:pt x="875513" y="200806"/>
                    <a:pt x="820062" y="200806"/>
                  </a:cubicBezTo>
                  <a:lnTo>
                    <a:pt x="100403" y="200806"/>
                  </a:lnTo>
                  <a:cubicBezTo>
                    <a:pt x="44952" y="200806"/>
                    <a:pt x="0" y="155854"/>
                    <a:pt x="0" y="100403"/>
                  </a:cubicBezTo>
                  <a:lnTo>
                    <a:pt x="0" y="100403"/>
                  </a:lnTo>
                  <a:cubicBezTo>
                    <a:pt x="0" y="44952"/>
                    <a:pt x="44952" y="0"/>
                    <a:pt x="100403" y="0"/>
                  </a:cubicBezTo>
                  <a:close/>
                </a:path>
              </a:pathLst>
            </a:custGeom>
            <a:solidFill>
              <a:srgbClr val="F8F8F8"/>
            </a:solidFill>
          </p:spPr>
        </p:sp>
        <p:sp>
          <p:nvSpPr>
            <p:cNvPr id="7" name="TextBox 7"/>
            <p:cNvSpPr txBox="1"/>
            <p:nvPr/>
          </p:nvSpPr>
          <p:spPr>
            <a:xfrm>
              <a:off x="0" y="66675"/>
              <a:ext cx="920464" cy="134131"/>
            </a:xfrm>
            <a:prstGeom prst="rect">
              <a:avLst/>
            </a:prstGeom>
          </p:spPr>
          <p:txBody>
            <a:bodyPr lIns="50800" tIns="50800" rIns="50800" bIns="50800" rtlCol="0" anchor="ctr"/>
            <a:lstStyle/>
            <a:p>
              <a:pPr algn="ctr">
                <a:lnSpc>
                  <a:spcPts val="2350"/>
                </a:lnSpc>
              </a:pPr>
              <a:endParaRPr/>
            </a:p>
          </p:txBody>
        </p:sp>
      </p:grpSp>
      <p:grpSp>
        <p:nvGrpSpPr>
          <p:cNvPr id="8" name="Group 8"/>
          <p:cNvGrpSpPr/>
          <p:nvPr/>
        </p:nvGrpSpPr>
        <p:grpSpPr>
          <a:xfrm>
            <a:off x="14054904" y="1028700"/>
            <a:ext cx="4038382" cy="656265"/>
            <a:chOff x="0" y="0"/>
            <a:chExt cx="1063607" cy="172843"/>
          </a:xfrm>
        </p:grpSpPr>
        <p:sp>
          <p:nvSpPr>
            <p:cNvPr id="9" name="Freeform 9"/>
            <p:cNvSpPr/>
            <p:nvPr/>
          </p:nvSpPr>
          <p:spPr>
            <a:xfrm>
              <a:off x="0" y="0"/>
              <a:ext cx="1063607" cy="172843"/>
            </a:xfrm>
            <a:custGeom>
              <a:avLst/>
              <a:gdLst/>
              <a:ahLst/>
              <a:cxnLst/>
              <a:rect l="l" t="t" r="r" b="b"/>
              <a:pathLst>
                <a:path w="1063607" h="172843">
                  <a:moveTo>
                    <a:pt x="86422" y="0"/>
                  </a:moveTo>
                  <a:lnTo>
                    <a:pt x="977185" y="0"/>
                  </a:lnTo>
                  <a:cubicBezTo>
                    <a:pt x="1024914" y="0"/>
                    <a:pt x="1063607" y="38692"/>
                    <a:pt x="1063607" y="86422"/>
                  </a:cubicBezTo>
                  <a:lnTo>
                    <a:pt x="1063607" y="86422"/>
                  </a:lnTo>
                  <a:cubicBezTo>
                    <a:pt x="1063607" y="109342"/>
                    <a:pt x="1054502" y="131324"/>
                    <a:pt x="1038294" y="147531"/>
                  </a:cubicBezTo>
                  <a:cubicBezTo>
                    <a:pt x="1022087" y="163738"/>
                    <a:pt x="1000106" y="172843"/>
                    <a:pt x="977185" y="172843"/>
                  </a:cubicBezTo>
                  <a:lnTo>
                    <a:pt x="86422" y="172843"/>
                  </a:lnTo>
                  <a:cubicBezTo>
                    <a:pt x="63501" y="172843"/>
                    <a:pt x="41520" y="163738"/>
                    <a:pt x="25312" y="147531"/>
                  </a:cubicBezTo>
                  <a:cubicBezTo>
                    <a:pt x="9105" y="131324"/>
                    <a:pt x="0" y="109342"/>
                    <a:pt x="0" y="86422"/>
                  </a:cubicBezTo>
                  <a:lnTo>
                    <a:pt x="0" y="86422"/>
                  </a:lnTo>
                  <a:cubicBezTo>
                    <a:pt x="0" y="63501"/>
                    <a:pt x="9105" y="41520"/>
                    <a:pt x="25312" y="25312"/>
                  </a:cubicBezTo>
                  <a:cubicBezTo>
                    <a:pt x="41520" y="9105"/>
                    <a:pt x="63501" y="0"/>
                    <a:pt x="86422" y="0"/>
                  </a:cubicBezTo>
                  <a:close/>
                </a:path>
              </a:pathLst>
            </a:custGeom>
            <a:solidFill>
              <a:srgbClr val="F8F8F8"/>
            </a:solidFill>
          </p:spPr>
        </p:sp>
        <p:sp>
          <p:nvSpPr>
            <p:cNvPr id="10" name="TextBox 10"/>
            <p:cNvSpPr txBox="1"/>
            <p:nvPr/>
          </p:nvSpPr>
          <p:spPr>
            <a:xfrm>
              <a:off x="0" y="66675"/>
              <a:ext cx="1063607" cy="106168"/>
            </a:xfrm>
            <a:prstGeom prst="rect">
              <a:avLst/>
            </a:prstGeom>
          </p:spPr>
          <p:txBody>
            <a:bodyPr lIns="50800" tIns="50800" rIns="50800" bIns="50800" rtlCol="0" anchor="ctr"/>
            <a:lstStyle/>
            <a:p>
              <a:pPr algn="ctr">
                <a:lnSpc>
                  <a:spcPts val="2350"/>
                </a:lnSpc>
              </a:pPr>
              <a:endParaRPr/>
            </a:p>
          </p:txBody>
        </p:sp>
      </p:grpSp>
      <p:sp>
        <p:nvSpPr>
          <p:cNvPr id="11" name="TextBox 11"/>
          <p:cNvSpPr txBox="1"/>
          <p:nvPr/>
        </p:nvSpPr>
        <p:spPr>
          <a:xfrm>
            <a:off x="407112" y="8094389"/>
            <a:ext cx="17477249" cy="1384910"/>
          </a:xfrm>
          <a:prstGeom prst="rect">
            <a:avLst/>
          </a:prstGeom>
        </p:spPr>
        <p:txBody>
          <a:bodyPr lIns="0" tIns="0" rIns="0" bIns="0" rtlCol="0" anchor="t">
            <a:spAutoFit/>
          </a:bodyPr>
          <a:lstStyle/>
          <a:p>
            <a:pPr algn="l">
              <a:lnSpc>
                <a:spcPts val="11341"/>
              </a:lnSpc>
            </a:pPr>
            <a:r>
              <a:rPr lang="en-US" sz="8100">
                <a:solidFill>
                  <a:srgbClr val="F8F8F8"/>
                </a:solidFill>
                <a:latin typeface="Inter"/>
                <a:ea typeface="Inter"/>
                <a:cs typeface="Inter"/>
                <a:sym typeface="Inter"/>
              </a:rPr>
              <a:t>Baseline Develoment &amp; Classical ML </a:t>
            </a:r>
          </a:p>
        </p:txBody>
      </p:sp>
      <p:sp>
        <p:nvSpPr>
          <p:cNvPr id="12" name="TextBox 12"/>
          <p:cNvSpPr txBox="1"/>
          <p:nvPr/>
        </p:nvSpPr>
        <p:spPr>
          <a:xfrm>
            <a:off x="786823" y="1306729"/>
            <a:ext cx="2919075" cy="311150"/>
          </a:xfrm>
          <a:prstGeom prst="rect">
            <a:avLst/>
          </a:prstGeom>
        </p:spPr>
        <p:txBody>
          <a:bodyPr lIns="0" tIns="0" rIns="0" bIns="0" rtlCol="0" anchor="t">
            <a:spAutoFit/>
          </a:bodyPr>
          <a:lstStyle/>
          <a:p>
            <a:pPr algn="ctr">
              <a:lnSpc>
                <a:spcPts val="2350"/>
              </a:lnSpc>
            </a:pPr>
            <a:r>
              <a:rPr lang="en-US" sz="2500" spc="-117">
                <a:solidFill>
                  <a:srgbClr val="101010"/>
                </a:solidFill>
                <a:latin typeface="Inter"/>
                <a:ea typeface="Inter"/>
                <a:cs typeface="Inter"/>
                <a:sym typeface="Inter"/>
              </a:rPr>
              <a:t>Pill 1: Data Foundation</a:t>
            </a:r>
          </a:p>
        </p:txBody>
      </p:sp>
      <p:sp>
        <p:nvSpPr>
          <p:cNvPr id="13" name="TextBox 13"/>
          <p:cNvSpPr txBox="1"/>
          <p:nvPr/>
        </p:nvSpPr>
        <p:spPr>
          <a:xfrm>
            <a:off x="7253261" y="1284396"/>
            <a:ext cx="3688903" cy="311150"/>
          </a:xfrm>
          <a:prstGeom prst="rect">
            <a:avLst/>
          </a:prstGeom>
        </p:spPr>
        <p:txBody>
          <a:bodyPr lIns="0" tIns="0" rIns="0" bIns="0" rtlCol="0" anchor="t">
            <a:spAutoFit/>
          </a:bodyPr>
          <a:lstStyle/>
          <a:p>
            <a:pPr algn="ctr">
              <a:lnSpc>
                <a:spcPts val="2350"/>
              </a:lnSpc>
            </a:pPr>
            <a:r>
              <a:rPr lang="en-US" sz="2500" spc="-117">
                <a:solidFill>
                  <a:srgbClr val="101010"/>
                </a:solidFill>
                <a:latin typeface="Inter"/>
                <a:ea typeface="Inter"/>
                <a:cs typeface="Inter"/>
                <a:sym typeface="Inter"/>
              </a:rPr>
              <a:t>Pill 2: Statistical Baseline</a:t>
            </a:r>
          </a:p>
        </p:txBody>
      </p:sp>
      <p:sp>
        <p:nvSpPr>
          <p:cNvPr id="14" name="TextBox 14"/>
          <p:cNvSpPr txBox="1"/>
          <p:nvPr/>
        </p:nvSpPr>
        <p:spPr>
          <a:xfrm>
            <a:off x="13969179" y="1229311"/>
            <a:ext cx="4124107" cy="286547"/>
          </a:xfrm>
          <a:prstGeom prst="rect">
            <a:avLst/>
          </a:prstGeom>
        </p:spPr>
        <p:txBody>
          <a:bodyPr lIns="0" tIns="0" rIns="0" bIns="0" rtlCol="0" anchor="t">
            <a:spAutoFit/>
          </a:bodyPr>
          <a:lstStyle/>
          <a:p>
            <a:pPr algn="ctr">
              <a:lnSpc>
                <a:spcPts val="2137"/>
              </a:lnSpc>
            </a:pPr>
            <a:r>
              <a:rPr lang="en-US" sz="2274" spc="-106">
                <a:solidFill>
                  <a:srgbClr val="101010"/>
                </a:solidFill>
                <a:latin typeface="Inter"/>
                <a:ea typeface="Inter"/>
                <a:cs typeface="Inter"/>
                <a:sym typeface="Inter"/>
              </a:rPr>
              <a:t>Pill 3: Dimensionality &amp; Search</a:t>
            </a:r>
          </a:p>
        </p:txBody>
      </p:sp>
      <p:sp>
        <p:nvSpPr>
          <p:cNvPr id="15" name="AutoShape 15"/>
          <p:cNvSpPr/>
          <p:nvPr/>
        </p:nvSpPr>
        <p:spPr>
          <a:xfrm>
            <a:off x="4344073" y="1409917"/>
            <a:ext cx="2758545" cy="0"/>
          </a:xfrm>
          <a:prstGeom prst="line">
            <a:avLst/>
          </a:prstGeom>
          <a:ln w="38100" cap="flat">
            <a:solidFill>
              <a:srgbClr val="FFFFFF"/>
            </a:solidFill>
            <a:prstDash val="sysDash"/>
            <a:headEnd type="none" w="sm" len="sm"/>
            <a:tailEnd type="none" w="sm" len="sm"/>
          </a:ln>
        </p:spPr>
      </p:sp>
      <p:sp>
        <p:nvSpPr>
          <p:cNvPr id="16" name="AutoShape 16"/>
          <p:cNvSpPr/>
          <p:nvPr/>
        </p:nvSpPr>
        <p:spPr>
          <a:xfrm>
            <a:off x="10930474" y="1409917"/>
            <a:ext cx="3038705" cy="0"/>
          </a:xfrm>
          <a:prstGeom prst="line">
            <a:avLst/>
          </a:prstGeom>
          <a:ln w="38100" cap="flat">
            <a:solidFill>
              <a:srgbClr val="FFFFFF"/>
            </a:solidFill>
            <a:prstDash val="sysDash"/>
            <a:headEnd type="none" w="sm" len="sm"/>
            <a:tailEnd type="none" w="sm" len="sm"/>
          </a:ln>
        </p:spPr>
      </p:sp>
      <p:sp>
        <p:nvSpPr>
          <p:cNvPr id="17" name="TextBox 17"/>
          <p:cNvSpPr txBox="1"/>
          <p:nvPr/>
        </p:nvSpPr>
        <p:spPr>
          <a:xfrm>
            <a:off x="0" y="2283900"/>
            <a:ext cx="4793496" cy="2066556"/>
          </a:xfrm>
          <a:prstGeom prst="rect">
            <a:avLst/>
          </a:prstGeom>
        </p:spPr>
        <p:txBody>
          <a:bodyPr lIns="0" tIns="0" rIns="0" bIns="0" rtlCol="0" anchor="t">
            <a:spAutoFit/>
          </a:bodyPr>
          <a:lstStyle/>
          <a:p>
            <a:pPr algn="ctr">
              <a:lnSpc>
                <a:spcPts val="2800"/>
              </a:lnSpc>
            </a:pPr>
            <a:r>
              <a:rPr lang="en-US" sz="2222" spc="-124">
                <a:solidFill>
                  <a:srgbClr val="F8F8F8"/>
                </a:solidFill>
                <a:latin typeface="Inter"/>
                <a:ea typeface="Inter"/>
                <a:cs typeface="Inter"/>
                <a:sym typeface="Inter"/>
              </a:rPr>
              <a:t>Perform Exploratory Data Analysis (EDA) on the CIFAR-10, German Traffic Sign (GTSRB), and BDD100K datasets. Analyze class balance, pixel statistics, and feature distributions to identify early challenges in road scene classification.</a:t>
            </a:r>
          </a:p>
        </p:txBody>
      </p:sp>
      <p:sp>
        <p:nvSpPr>
          <p:cNvPr id="18" name="TextBox 18"/>
          <p:cNvSpPr txBox="1"/>
          <p:nvPr/>
        </p:nvSpPr>
        <p:spPr>
          <a:xfrm>
            <a:off x="6748989" y="2283900"/>
            <a:ext cx="4793496" cy="2066556"/>
          </a:xfrm>
          <a:prstGeom prst="rect">
            <a:avLst/>
          </a:prstGeom>
        </p:spPr>
        <p:txBody>
          <a:bodyPr lIns="0" tIns="0" rIns="0" bIns="0" rtlCol="0" anchor="t">
            <a:spAutoFit/>
          </a:bodyPr>
          <a:lstStyle/>
          <a:p>
            <a:pPr algn="ctr">
              <a:lnSpc>
                <a:spcPts val="2800"/>
              </a:lnSpc>
            </a:pPr>
            <a:r>
              <a:rPr lang="en-US" sz="2222" spc="-124">
                <a:solidFill>
                  <a:srgbClr val="F8F8F8"/>
                </a:solidFill>
                <a:latin typeface="Inter"/>
                <a:ea typeface="Inter"/>
                <a:cs typeface="Inter"/>
                <a:sym typeface="Inter"/>
              </a:rPr>
              <a:t>Establish initial performance benchmarks using KNN and Naïve Bayes algorithms. These classical models serve as the necessary "low-complexity" reference point before moving into deep learning architectures.</a:t>
            </a:r>
          </a:p>
        </p:txBody>
      </p:sp>
      <p:sp>
        <p:nvSpPr>
          <p:cNvPr id="19" name="TextBox 19"/>
          <p:cNvSpPr txBox="1"/>
          <p:nvPr/>
        </p:nvSpPr>
        <p:spPr>
          <a:xfrm>
            <a:off x="13495109" y="2284158"/>
            <a:ext cx="4792891" cy="2066298"/>
          </a:xfrm>
          <a:prstGeom prst="rect">
            <a:avLst/>
          </a:prstGeom>
        </p:spPr>
        <p:txBody>
          <a:bodyPr lIns="0" tIns="0" rIns="0" bIns="0" rtlCol="0" anchor="t">
            <a:spAutoFit/>
          </a:bodyPr>
          <a:lstStyle/>
          <a:p>
            <a:pPr algn="ctr">
              <a:lnSpc>
                <a:spcPts val="2800"/>
              </a:lnSpc>
            </a:pPr>
            <a:r>
              <a:rPr lang="en-US" sz="2222" spc="-124">
                <a:solidFill>
                  <a:srgbClr val="F8F8F8"/>
                </a:solidFill>
                <a:latin typeface="Inter"/>
                <a:ea typeface="Inter"/>
                <a:cs typeface="Inter"/>
                <a:sym typeface="Inter"/>
              </a:rPr>
              <a:t>Implement PCA for data compression and feature reduction to manage computational load. Use Grid Search for hyperparameter optimization to ensure the baseline models are reaching their peak statistical potential.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041178" y="6379184"/>
            <a:ext cx="4279936" cy="2879116"/>
            <a:chOff x="0" y="0"/>
            <a:chExt cx="663074" cy="446050"/>
          </a:xfrm>
        </p:grpSpPr>
        <p:sp>
          <p:nvSpPr>
            <p:cNvPr id="3" name="Freeform 3"/>
            <p:cNvSpPr/>
            <p:nvPr/>
          </p:nvSpPr>
          <p:spPr>
            <a:xfrm>
              <a:off x="0" y="0"/>
              <a:ext cx="663074" cy="446050"/>
            </a:xfrm>
            <a:custGeom>
              <a:avLst/>
              <a:gdLst/>
              <a:ahLst/>
              <a:cxnLst/>
              <a:rect l="l" t="t" r="r" b="b"/>
              <a:pathLst>
                <a:path w="663074" h="446050">
                  <a:moveTo>
                    <a:pt x="0" y="0"/>
                  </a:moveTo>
                  <a:lnTo>
                    <a:pt x="663074" y="0"/>
                  </a:lnTo>
                  <a:lnTo>
                    <a:pt x="663074" y="446050"/>
                  </a:lnTo>
                  <a:lnTo>
                    <a:pt x="0" y="446050"/>
                  </a:lnTo>
                  <a:close/>
                </a:path>
              </a:pathLst>
            </a:custGeom>
            <a:blipFill>
              <a:blip r:embed="rId2"/>
              <a:stretch>
                <a:fillRect l="-7742" r="-7742"/>
              </a:stretch>
            </a:blipFill>
            <a:ln w="19050" cap="sq">
              <a:solidFill>
                <a:srgbClr val="424242"/>
              </a:solidFill>
              <a:prstDash val="solid"/>
              <a:miter/>
            </a:ln>
          </p:spPr>
        </p:sp>
      </p:grpSp>
      <p:grpSp>
        <p:nvGrpSpPr>
          <p:cNvPr id="4" name="Group 4"/>
          <p:cNvGrpSpPr/>
          <p:nvPr/>
        </p:nvGrpSpPr>
        <p:grpSpPr>
          <a:xfrm>
            <a:off x="7004032" y="6379184"/>
            <a:ext cx="4279936" cy="2879116"/>
            <a:chOff x="0" y="0"/>
            <a:chExt cx="663074" cy="446050"/>
          </a:xfrm>
        </p:grpSpPr>
        <p:sp>
          <p:nvSpPr>
            <p:cNvPr id="5" name="Freeform 5"/>
            <p:cNvSpPr/>
            <p:nvPr/>
          </p:nvSpPr>
          <p:spPr>
            <a:xfrm>
              <a:off x="0" y="0"/>
              <a:ext cx="663074" cy="446050"/>
            </a:xfrm>
            <a:custGeom>
              <a:avLst/>
              <a:gdLst/>
              <a:ahLst/>
              <a:cxnLst/>
              <a:rect l="l" t="t" r="r" b="b"/>
              <a:pathLst>
                <a:path w="663074" h="446050">
                  <a:moveTo>
                    <a:pt x="0" y="0"/>
                  </a:moveTo>
                  <a:lnTo>
                    <a:pt x="663074" y="0"/>
                  </a:lnTo>
                  <a:lnTo>
                    <a:pt x="663074" y="446050"/>
                  </a:lnTo>
                  <a:lnTo>
                    <a:pt x="0" y="446050"/>
                  </a:lnTo>
                  <a:close/>
                </a:path>
              </a:pathLst>
            </a:custGeom>
            <a:blipFill>
              <a:blip r:embed="rId3"/>
              <a:stretch>
                <a:fillRect t="-29494" b="-29494"/>
              </a:stretch>
            </a:blipFill>
            <a:ln cap="sq">
              <a:noFill/>
              <a:prstDash val="solid"/>
              <a:miter/>
            </a:ln>
          </p:spPr>
        </p:sp>
      </p:grpSp>
      <p:grpSp>
        <p:nvGrpSpPr>
          <p:cNvPr id="6" name="Group 6"/>
          <p:cNvGrpSpPr/>
          <p:nvPr/>
        </p:nvGrpSpPr>
        <p:grpSpPr>
          <a:xfrm>
            <a:off x="12712758" y="6379184"/>
            <a:ext cx="4279936" cy="2879116"/>
            <a:chOff x="0" y="0"/>
            <a:chExt cx="663074" cy="446050"/>
          </a:xfrm>
        </p:grpSpPr>
        <p:sp>
          <p:nvSpPr>
            <p:cNvPr id="7" name="Freeform 7"/>
            <p:cNvSpPr/>
            <p:nvPr/>
          </p:nvSpPr>
          <p:spPr>
            <a:xfrm>
              <a:off x="0" y="0"/>
              <a:ext cx="663074" cy="446050"/>
            </a:xfrm>
            <a:custGeom>
              <a:avLst/>
              <a:gdLst/>
              <a:ahLst/>
              <a:cxnLst/>
              <a:rect l="l" t="t" r="r" b="b"/>
              <a:pathLst>
                <a:path w="663074" h="446050">
                  <a:moveTo>
                    <a:pt x="0" y="0"/>
                  </a:moveTo>
                  <a:lnTo>
                    <a:pt x="663074" y="0"/>
                  </a:lnTo>
                  <a:lnTo>
                    <a:pt x="663074" y="446050"/>
                  </a:lnTo>
                  <a:lnTo>
                    <a:pt x="0" y="446050"/>
                  </a:lnTo>
                  <a:close/>
                </a:path>
              </a:pathLst>
            </a:custGeom>
            <a:blipFill>
              <a:blip r:embed="rId4"/>
              <a:stretch>
                <a:fillRect t="-728" b="-728"/>
              </a:stretch>
            </a:blipFill>
            <a:ln cap="sq">
              <a:noFill/>
              <a:prstDash val="solid"/>
              <a:miter/>
            </a:ln>
          </p:spPr>
        </p:sp>
      </p:grpSp>
      <p:sp>
        <p:nvSpPr>
          <p:cNvPr id="8" name="Freeform 8"/>
          <p:cNvSpPr/>
          <p:nvPr/>
        </p:nvSpPr>
        <p:spPr>
          <a:xfrm>
            <a:off x="1598505" y="2607267"/>
            <a:ext cx="748946" cy="748946"/>
          </a:xfrm>
          <a:custGeom>
            <a:avLst/>
            <a:gdLst/>
            <a:ahLst/>
            <a:cxnLst/>
            <a:rect l="l" t="t" r="r" b="b"/>
            <a:pathLst>
              <a:path w="748946" h="748946">
                <a:moveTo>
                  <a:pt x="0" y="0"/>
                </a:moveTo>
                <a:lnTo>
                  <a:pt x="748946" y="0"/>
                </a:lnTo>
                <a:lnTo>
                  <a:pt x="748946" y="748946"/>
                </a:lnTo>
                <a:lnTo>
                  <a:pt x="0" y="7489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9" name="Freeform 9"/>
          <p:cNvSpPr/>
          <p:nvPr/>
        </p:nvSpPr>
        <p:spPr>
          <a:xfrm>
            <a:off x="7561360" y="2607267"/>
            <a:ext cx="748946" cy="748946"/>
          </a:xfrm>
          <a:custGeom>
            <a:avLst/>
            <a:gdLst/>
            <a:ahLst/>
            <a:cxnLst/>
            <a:rect l="l" t="t" r="r" b="b"/>
            <a:pathLst>
              <a:path w="748946" h="748946">
                <a:moveTo>
                  <a:pt x="0" y="0"/>
                </a:moveTo>
                <a:lnTo>
                  <a:pt x="748945" y="0"/>
                </a:lnTo>
                <a:lnTo>
                  <a:pt x="748945" y="748946"/>
                </a:lnTo>
                <a:lnTo>
                  <a:pt x="0" y="7489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a:off x="13270086" y="2607267"/>
            <a:ext cx="748946" cy="748946"/>
          </a:xfrm>
          <a:custGeom>
            <a:avLst/>
            <a:gdLst/>
            <a:ahLst/>
            <a:cxnLst/>
            <a:rect l="l" t="t" r="r" b="b"/>
            <a:pathLst>
              <a:path w="748946" h="748946">
                <a:moveTo>
                  <a:pt x="0" y="0"/>
                </a:moveTo>
                <a:lnTo>
                  <a:pt x="748945" y="0"/>
                </a:lnTo>
                <a:lnTo>
                  <a:pt x="748945" y="748946"/>
                </a:lnTo>
                <a:lnTo>
                  <a:pt x="0" y="7489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3174660" y="2980928"/>
            <a:ext cx="1485711" cy="481330"/>
          </a:xfrm>
          <a:prstGeom prst="rect">
            <a:avLst/>
          </a:prstGeom>
        </p:spPr>
        <p:txBody>
          <a:bodyPr lIns="0" tIns="0" rIns="0" bIns="0" rtlCol="0" anchor="t">
            <a:spAutoFit/>
          </a:bodyPr>
          <a:lstStyle/>
          <a:p>
            <a:pPr algn="l">
              <a:lnSpc>
                <a:spcPts val="3919"/>
              </a:lnSpc>
            </a:pPr>
            <a:r>
              <a:rPr lang="en-US" sz="2799" b="1">
                <a:solidFill>
                  <a:srgbClr val="101010"/>
                </a:solidFill>
                <a:latin typeface="Inter Bold"/>
                <a:ea typeface="Inter Bold"/>
                <a:cs typeface="Inter Bold"/>
                <a:sym typeface="Inter Bold"/>
              </a:rPr>
              <a:t>Solution </a:t>
            </a:r>
          </a:p>
        </p:txBody>
      </p:sp>
      <p:sp>
        <p:nvSpPr>
          <p:cNvPr id="12" name="TextBox 12"/>
          <p:cNvSpPr txBox="1"/>
          <p:nvPr/>
        </p:nvSpPr>
        <p:spPr>
          <a:xfrm>
            <a:off x="9137515" y="2980928"/>
            <a:ext cx="1485711" cy="481330"/>
          </a:xfrm>
          <a:prstGeom prst="rect">
            <a:avLst/>
          </a:prstGeom>
        </p:spPr>
        <p:txBody>
          <a:bodyPr lIns="0" tIns="0" rIns="0" bIns="0" rtlCol="0" anchor="t">
            <a:spAutoFit/>
          </a:bodyPr>
          <a:lstStyle/>
          <a:p>
            <a:pPr algn="l">
              <a:lnSpc>
                <a:spcPts val="3919"/>
              </a:lnSpc>
            </a:pPr>
            <a:r>
              <a:rPr lang="en-US" sz="2799" b="1">
                <a:solidFill>
                  <a:srgbClr val="101010"/>
                </a:solidFill>
                <a:latin typeface="Inter Bold"/>
                <a:ea typeface="Inter Bold"/>
                <a:cs typeface="Inter Bold"/>
                <a:sym typeface="Inter Bold"/>
              </a:rPr>
              <a:t>Solution </a:t>
            </a:r>
          </a:p>
        </p:txBody>
      </p:sp>
      <p:sp>
        <p:nvSpPr>
          <p:cNvPr id="13" name="TextBox 13"/>
          <p:cNvSpPr txBox="1"/>
          <p:nvPr/>
        </p:nvSpPr>
        <p:spPr>
          <a:xfrm>
            <a:off x="14846241" y="2980928"/>
            <a:ext cx="1485711" cy="481330"/>
          </a:xfrm>
          <a:prstGeom prst="rect">
            <a:avLst/>
          </a:prstGeom>
        </p:spPr>
        <p:txBody>
          <a:bodyPr lIns="0" tIns="0" rIns="0" bIns="0" rtlCol="0" anchor="t">
            <a:spAutoFit/>
          </a:bodyPr>
          <a:lstStyle/>
          <a:p>
            <a:pPr algn="l">
              <a:lnSpc>
                <a:spcPts val="3919"/>
              </a:lnSpc>
            </a:pPr>
            <a:r>
              <a:rPr lang="en-US" sz="2799" b="1">
                <a:solidFill>
                  <a:srgbClr val="101010"/>
                </a:solidFill>
                <a:latin typeface="Inter Bold"/>
                <a:ea typeface="Inter Bold"/>
                <a:cs typeface="Inter Bold"/>
                <a:sym typeface="Inter Bold"/>
              </a:rPr>
              <a:t>Solution </a:t>
            </a:r>
          </a:p>
        </p:txBody>
      </p:sp>
      <p:sp>
        <p:nvSpPr>
          <p:cNvPr id="14" name="TextBox 14"/>
          <p:cNvSpPr txBox="1"/>
          <p:nvPr/>
        </p:nvSpPr>
        <p:spPr>
          <a:xfrm>
            <a:off x="3174660" y="1691084"/>
            <a:ext cx="2146453" cy="1226820"/>
          </a:xfrm>
          <a:prstGeom prst="rect">
            <a:avLst/>
          </a:prstGeom>
        </p:spPr>
        <p:txBody>
          <a:bodyPr lIns="0" tIns="0" rIns="0" bIns="0" rtlCol="0" anchor="t">
            <a:spAutoFit/>
          </a:bodyPr>
          <a:lstStyle/>
          <a:p>
            <a:pPr algn="l">
              <a:lnSpc>
                <a:spcPts val="10080"/>
              </a:lnSpc>
            </a:pPr>
            <a:r>
              <a:rPr lang="en-US" sz="7200">
                <a:solidFill>
                  <a:srgbClr val="101010"/>
                </a:solidFill>
                <a:latin typeface="Inter"/>
                <a:ea typeface="Inter"/>
                <a:cs typeface="Inter"/>
                <a:sym typeface="Inter"/>
              </a:rPr>
              <a:t>01</a:t>
            </a:r>
          </a:p>
        </p:txBody>
      </p:sp>
      <p:sp>
        <p:nvSpPr>
          <p:cNvPr id="15" name="TextBox 15"/>
          <p:cNvSpPr txBox="1"/>
          <p:nvPr/>
        </p:nvSpPr>
        <p:spPr>
          <a:xfrm>
            <a:off x="9137515" y="1691084"/>
            <a:ext cx="2146453" cy="1226820"/>
          </a:xfrm>
          <a:prstGeom prst="rect">
            <a:avLst/>
          </a:prstGeom>
        </p:spPr>
        <p:txBody>
          <a:bodyPr lIns="0" tIns="0" rIns="0" bIns="0" rtlCol="0" anchor="t">
            <a:spAutoFit/>
          </a:bodyPr>
          <a:lstStyle/>
          <a:p>
            <a:pPr algn="l">
              <a:lnSpc>
                <a:spcPts val="10080"/>
              </a:lnSpc>
            </a:pPr>
            <a:r>
              <a:rPr lang="en-US" sz="7200">
                <a:solidFill>
                  <a:srgbClr val="101010"/>
                </a:solidFill>
                <a:latin typeface="Inter"/>
                <a:ea typeface="Inter"/>
                <a:cs typeface="Inter"/>
                <a:sym typeface="Inter"/>
              </a:rPr>
              <a:t>02</a:t>
            </a:r>
          </a:p>
        </p:txBody>
      </p:sp>
      <p:sp>
        <p:nvSpPr>
          <p:cNvPr id="16" name="TextBox 16"/>
          <p:cNvSpPr txBox="1"/>
          <p:nvPr/>
        </p:nvSpPr>
        <p:spPr>
          <a:xfrm>
            <a:off x="14846241" y="1691084"/>
            <a:ext cx="2146453" cy="1226820"/>
          </a:xfrm>
          <a:prstGeom prst="rect">
            <a:avLst/>
          </a:prstGeom>
        </p:spPr>
        <p:txBody>
          <a:bodyPr lIns="0" tIns="0" rIns="0" bIns="0" rtlCol="0" anchor="t">
            <a:spAutoFit/>
          </a:bodyPr>
          <a:lstStyle/>
          <a:p>
            <a:pPr algn="l">
              <a:lnSpc>
                <a:spcPts val="10080"/>
              </a:lnSpc>
            </a:pPr>
            <a:r>
              <a:rPr lang="en-US" sz="7200">
                <a:solidFill>
                  <a:srgbClr val="101010"/>
                </a:solidFill>
                <a:latin typeface="Inter"/>
                <a:ea typeface="Inter"/>
                <a:cs typeface="Inter"/>
                <a:sym typeface="Inter"/>
              </a:rPr>
              <a:t>03</a:t>
            </a:r>
          </a:p>
        </p:txBody>
      </p:sp>
      <p:sp>
        <p:nvSpPr>
          <p:cNvPr id="17" name="TextBox 17"/>
          <p:cNvSpPr txBox="1"/>
          <p:nvPr/>
        </p:nvSpPr>
        <p:spPr>
          <a:xfrm>
            <a:off x="1041178" y="3907917"/>
            <a:ext cx="4534104" cy="1308394"/>
          </a:xfrm>
          <a:prstGeom prst="rect">
            <a:avLst/>
          </a:prstGeom>
        </p:spPr>
        <p:txBody>
          <a:bodyPr lIns="0" tIns="0" rIns="0" bIns="0" rtlCol="0" anchor="t">
            <a:spAutoFit/>
          </a:bodyPr>
          <a:lstStyle/>
          <a:p>
            <a:pPr algn="l">
              <a:lnSpc>
                <a:spcPts val="2135"/>
              </a:lnSpc>
            </a:pPr>
            <a:r>
              <a:rPr lang="en-US" sz="1695" spc="-94">
                <a:solidFill>
                  <a:srgbClr val="101010"/>
                </a:solidFill>
                <a:latin typeface="Inter"/>
                <a:ea typeface="Inter"/>
                <a:cs typeface="Inter"/>
                <a:sym typeface="Inter"/>
              </a:rPr>
              <a:t>Transition from statistical models to Deep CNNs designed specifically for traffic sign recognition. By stacking convolutional layers, the system learns to extract hierarchical features like edges, shapes, and complex symbols directly from raw pixels.</a:t>
            </a:r>
          </a:p>
        </p:txBody>
      </p:sp>
      <p:sp>
        <p:nvSpPr>
          <p:cNvPr id="18" name="TextBox 18"/>
          <p:cNvSpPr txBox="1"/>
          <p:nvPr/>
        </p:nvSpPr>
        <p:spPr>
          <a:xfrm>
            <a:off x="7004032" y="3898392"/>
            <a:ext cx="4279936" cy="149275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Implement AutoEncoders to handle real-world image degradation. This unsupervised learning approach compresses noisy input into a latent representation before reconstructing a "clean" version, ensuring the perception module remains robust in poor visibility.</a:t>
            </a:r>
          </a:p>
        </p:txBody>
      </p:sp>
      <p:sp>
        <p:nvSpPr>
          <p:cNvPr id="19" name="TextBox 19"/>
          <p:cNvSpPr txBox="1"/>
          <p:nvPr/>
        </p:nvSpPr>
        <p:spPr>
          <a:xfrm>
            <a:off x="12712758" y="3898392"/>
            <a:ext cx="4279936" cy="149275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 Leverage Transfer Learning by fine-tuning pre-trained models like MobileNet or VGG for specific in-car camera data. This allows the model to benefit from massive existing datasets while specializing in the nuances of your specific autonomous driving environment.</a:t>
            </a:r>
          </a:p>
        </p:txBody>
      </p:sp>
      <p:sp>
        <p:nvSpPr>
          <p:cNvPr id="20" name="TextBox 20"/>
          <p:cNvSpPr txBox="1"/>
          <p:nvPr/>
        </p:nvSpPr>
        <p:spPr>
          <a:xfrm>
            <a:off x="2806673" y="192859"/>
            <a:ext cx="12046053" cy="835841"/>
          </a:xfrm>
          <a:prstGeom prst="rect">
            <a:avLst/>
          </a:prstGeom>
        </p:spPr>
        <p:txBody>
          <a:bodyPr lIns="0" tIns="0" rIns="0" bIns="0" rtlCol="0" anchor="t">
            <a:spAutoFit/>
          </a:bodyPr>
          <a:lstStyle/>
          <a:p>
            <a:pPr algn="ctr">
              <a:lnSpc>
                <a:spcPts val="6844"/>
              </a:lnSpc>
            </a:pPr>
            <a:r>
              <a:rPr lang="en-US" sz="4888" spc="-229">
                <a:solidFill>
                  <a:srgbClr val="424242"/>
                </a:solidFill>
                <a:latin typeface="Inter"/>
                <a:ea typeface="Inter"/>
                <a:cs typeface="Inter"/>
                <a:sym typeface="Inter"/>
              </a:rPr>
              <a:t>Neural Perception &amp; Noise Reconstruction</a:t>
            </a:r>
          </a:p>
        </p:txBody>
      </p:sp>
      <p:sp>
        <p:nvSpPr>
          <p:cNvPr id="21" name="TextBox 21"/>
          <p:cNvSpPr txBox="1"/>
          <p:nvPr/>
        </p:nvSpPr>
        <p:spPr>
          <a:xfrm>
            <a:off x="1696436" y="3424158"/>
            <a:ext cx="3223588" cy="372745"/>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Deep Neural Perception</a:t>
            </a:r>
          </a:p>
        </p:txBody>
      </p:sp>
      <p:sp>
        <p:nvSpPr>
          <p:cNvPr id="22" name="TextBox 22"/>
          <p:cNvSpPr txBox="1"/>
          <p:nvPr/>
        </p:nvSpPr>
        <p:spPr>
          <a:xfrm>
            <a:off x="7004032" y="3424158"/>
            <a:ext cx="5375982" cy="372745"/>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Noise Recovery &amp; Reconstruction</a:t>
            </a:r>
          </a:p>
        </p:txBody>
      </p:sp>
      <p:sp>
        <p:nvSpPr>
          <p:cNvPr id="23" name="TextBox 23"/>
          <p:cNvSpPr txBox="1"/>
          <p:nvPr/>
        </p:nvSpPr>
        <p:spPr>
          <a:xfrm>
            <a:off x="12712758" y="3424158"/>
            <a:ext cx="5375982" cy="372745"/>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Knowledge Transfer &amp; Optimization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101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3628566"/>
            <a:ext cx="5862219" cy="5629734"/>
            <a:chOff x="0" y="0"/>
            <a:chExt cx="1543959" cy="1482728"/>
          </a:xfrm>
        </p:grpSpPr>
        <p:sp>
          <p:nvSpPr>
            <p:cNvPr id="3" name="Freeform 3"/>
            <p:cNvSpPr/>
            <p:nvPr/>
          </p:nvSpPr>
          <p:spPr>
            <a:xfrm>
              <a:off x="0" y="0"/>
              <a:ext cx="1543959" cy="1482728"/>
            </a:xfrm>
            <a:custGeom>
              <a:avLst/>
              <a:gdLst/>
              <a:ahLst/>
              <a:cxnLst/>
              <a:rect l="l" t="t" r="r" b="b"/>
              <a:pathLst>
                <a:path w="1543959" h="1482728">
                  <a:moveTo>
                    <a:pt x="39619" y="0"/>
                  </a:moveTo>
                  <a:lnTo>
                    <a:pt x="1504339" y="0"/>
                  </a:lnTo>
                  <a:cubicBezTo>
                    <a:pt x="1526221" y="0"/>
                    <a:pt x="1543959" y="17738"/>
                    <a:pt x="1543959" y="39619"/>
                  </a:cubicBezTo>
                  <a:lnTo>
                    <a:pt x="1543959" y="1443109"/>
                  </a:lnTo>
                  <a:cubicBezTo>
                    <a:pt x="1543959" y="1464990"/>
                    <a:pt x="1526221" y="1482728"/>
                    <a:pt x="1504339" y="1482728"/>
                  </a:cubicBezTo>
                  <a:lnTo>
                    <a:pt x="39619" y="1482728"/>
                  </a:lnTo>
                  <a:cubicBezTo>
                    <a:pt x="17738" y="1482728"/>
                    <a:pt x="0" y="1464990"/>
                    <a:pt x="0" y="1443109"/>
                  </a:cubicBezTo>
                  <a:lnTo>
                    <a:pt x="0" y="39619"/>
                  </a:lnTo>
                  <a:cubicBezTo>
                    <a:pt x="0" y="17738"/>
                    <a:pt x="17738" y="0"/>
                    <a:pt x="39619" y="0"/>
                  </a:cubicBezTo>
                  <a:close/>
                </a:path>
              </a:pathLst>
            </a:custGeom>
            <a:ln w="19050" cap="rnd">
              <a:solidFill>
                <a:srgbClr val="F8F8F8"/>
              </a:solidFill>
              <a:prstDash val="solid"/>
              <a:round/>
            </a:ln>
          </p:spPr>
        </p:sp>
        <p:sp>
          <p:nvSpPr>
            <p:cNvPr id="4" name="TextBox 4"/>
            <p:cNvSpPr txBox="1"/>
            <p:nvPr/>
          </p:nvSpPr>
          <p:spPr>
            <a:xfrm>
              <a:off x="0" y="-38100"/>
              <a:ext cx="1543959" cy="1520828"/>
            </a:xfrm>
            <a:prstGeom prst="rect">
              <a:avLst/>
            </a:prstGeom>
          </p:spPr>
          <p:txBody>
            <a:bodyPr lIns="50800" tIns="50800" rIns="50800" bIns="50800" rtlCol="0" anchor="ctr"/>
            <a:lstStyle/>
            <a:p>
              <a:pPr algn="ctr">
                <a:lnSpc>
                  <a:spcPts val="2940"/>
                </a:lnSpc>
              </a:pPr>
              <a:endParaRPr/>
            </a:p>
          </p:txBody>
        </p:sp>
      </p:grpSp>
      <p:grpSp>
        <p:nvGrpSpPr>
          <p:cNvPr id="5" name="Group 5"/>
          <p:cNvGrpSpPr/>
          <p:nvPr/>
        </p:nvGrpSpPr>
        <p:grpSpPr>
          <a:xfrm>
            <a:off x="7516431" y="3628566"/>
            <a:ext cx="9742869" cy="2465900"/>
            <a:chOff x="0" y="0"/>
            <a:chExt cx="2566023" cy="649455"/>
          </a:xfrm>
        </p:grpSpPr>
        <p:sp>
          <p:nvSpPr>
            <p:cNvPr id="6" name="Freeform 6"/>
            <p:cNvSpPr/>
            <p:nvPr/>
          </p:nvSpPr>
          <p:spPr>
            <a:xfrm>
              <a:off x="0" y="0"/>
              <a:ext cx="2566023" cy="649455"/>
            </a:xfrm>
            <a:custGeom>
              <a:avLst/>
              <a:gdLst/>
              <a:ahLst/>
              <a:cxnLst/>
              <a:rect l="l" t="t" r="r" b="b"/>
              <a:pathLst>
                <a:path w="2566023" h="649455">
                  <a:moveTo>
                    <a:pt x="23839" y="0"/>
                  </a:moveTo>
                  <a:lnTo>
                    <a:pt x="2542184" y="0"/>
                  </a:lnTo>
                  <a:cubicBezTo>
                    <a:pt x="2548507" y="0"/>
                    <a:pt x="2554570" y="2512"/>
                    <a:pt x="2559041" y="6982"/>
                  </a:cubicBezTo>
                  <a:cubicBezTo>
                    <a:pt x="2563512" y="11453"/>
                    <a:pt x="2566023" y="17516"/>
                    <a:pt x="2566023" y="23839"/>
                  </a:cubicBezTo>
                  <a:lnTo>
                    <a:pt x="2566023" y="625616"/>
                  </a:lnTo>
                  <a:cubicBezTo>
                    <a:pt x="2566023" y="638782"/>
                    <a:pt x="2555350" y="649455"/>
                    <a:pt x="2542184" y="649455"/>
                  </a:cubicBezTo>
                  <a:lnTo>
                    <a:pt x="23839" y="649455"/>
                  </a:lnTo>
                  <a:cubicBezTo>
                    <a:pt x="10673" y="649455"/>
                    <a:pt x="0" y="638782"/>
                    <a:pt x="0" y="625616"/>
                  </a:cubicBezTo>
                  <a:lnTo>
                    <a:pt x="0" y="23839"/>
                  </a:lnTo>
                  <a:cubicBezTo>
                    <a:pt x="0" y="10673"/>
                    <a:pt x="10673" y="0"/>
                    <a:pt x="23839" y="0"/>
                  </a:cubicBezTo>
                  <a:close/>
                </a:path>
              </a:pathLst>
            </a:custGeom>
            <a:ln w="19050" cap="rnd">
              <a:solidFill>
                <a:srgbClr val="F8F8F8"/>
              </a:solidFill>
              <a:prstDash val="solid"/>
              <a:round/>
            </a:ln>
          </p:spPr>
        </p:sp>
        <p:sp>
          <p:nvSpPr>
            <p:cNvPr id="7" name="TextBox 7"/>
            <p:cNvSpPr txBox="1"/>
            <p:nvPr/>
          </p:nvSpPr>
          <p:spPr>
            <a:xfrm>
              <a:off x="0" y="-38100"/>
              <a:ext cx="2566023" cy="687555"/>
            </a:xfrm>
            <a:prstGeom prst="rect">
              <a:avLst/>
            </a:prstGeom>
          </p:spPr>
          <p:txBody>
            <a:bodyPr lIns="50800" tIns="50800" rIns="50800" bIns="50800" rtlCol="0" anchor="ctr"/>
            <a:lstStyle/>
            <a:p>
              <a:pPr algn="ctr">
                <a:lnSpc>
                  <a:spcPts val="2940"/>
                </a:lnSpc>
              </a:pPr>
              <a:endParaRPr/>
            </a:p>
          </p:txBody>
        </p:sp>
      </p:grpSp>
      <p:grpSp>
        <p:nvGrpSpPr>
          <p:cNvPr id="8" name="Group 8"/>
          <p:cNvGrpSpPr/>
          <p:nvPr/>
        </p:nvGrpSpPr>
        <p:grpSpPr>
          <a:xfrm>
            <a:off x="7598386" y="6443433"/>
            <a:ext cx="9660914" cy="2814867"/>
            <a:chOff x="0" y="0"/>
            <a:chExt cx="2544438" cy="741364"/>
          </a:xfrm>
        </p:grpSpPr>
        <p:sp>
          <p:nvSpPr>
            <p:cNvPr id="9" name="Freeform 9"/>
            <p:cNvSpPr/>
            <p:nvPr/>
          </p:nvSpPr>
          <p:spPr>
            <a:xfrm>
              <a:off x="0" y="0"/>
              <a:ext cx="2544438" cy="741364"/>
            </a:xfrm>
            <a:custGeom>
              <a:avLst/>
              <a:gdLst/>
              <a:ahLst/>
              <a:cxnLst/>
              <a:rect l="l" t="t" r="r" b="b"/>
              <a:pathLst>
                <a:path w="2544438" h="741364">
                  <a:moveTo>
                    <a:pt x="24041" y="0"/>
                  </a:moveTo>
                  <a:lnTo>
                    <a:pt x="2520397" y="0"/>
                  </a:lnTo>
                  <a:cubicBezTo>
                    <a:pt x="2526773" y="0"/>
                    <a:pt x="2532888" y="2533"/>
                    <a:pt x="2537397" y="7041"/>
                  </a:cubicBezTo>
                  <a:cubicBezTo>
                    <a:pt x="2541905" y="11550"/>
                    <a:pt x="2544438" y="17665"/>
                    <a:pt x="2544438" y="24041"/>
                  </a:cubicBezTo>
                  <a:lnTo>
                    <a:pt x="2544438" y="717323"/>
                  </a:lnTo>
                  <a:cubicBezTo>
                    <a:pt x="2544438" y="723699"/>
                    <a:pt x="2541905" y="729814"/>
                    <a:pt x="2537397" y="734323"/>
                  </a:cubicBezTo>
                  <a:cubicBezTo>
                    <a:pt x="2532888" y="738831"/>
                    <a:pt x="2526773" y="741364"/>
                    <a:pt x="2520397" y="741364"/>
                  </a:cubicBezTo>
                  <a:lnTo>
                    <a:pt x="24041" y="741364"/>
                  </a:lnTo>
                  <a:cubicBezTo>
                    <a:pt x="17665" y="741364"/>
                    <a:pt x="11550" y="738831"/>
                    <a:pt x="7041" y="734323"/>
                  </a:cubicBezTo>
                  <a:cubicBezTo>
                    <a:pt x="2533" y="729814"/>
                    <a:pt x="0" y="723699"/>
                    <a:pt x="0" y="717323"/>
                  </a:cubicBezTo>
                  <a:lnTo>
                    <a:pt x="0" y="24041"/>
                  </a:lnTo>
                  <a:cubicBezTo>
                    <a:pt x="0" y="17665"/>
                    <a:pt x="2533" y="11550"/>
                    <a:pt x="7041" y="7041"/>
                  </a:cubicBezTo>
                  <a:cubicBezTo>
                    <a:pt x="11550" y="2533"/>
                    <a:pt x="17665" y="0"/>
                    <a:pt x="24041" y="0"/>
                  </a:cubicBezTo>
                  <a:close/>
                </a:path>
              </a:pathLst>
            </a:custGeom>
            <a:solidFill>
              <a:srgbClr val="F8F8F8"/>
            </a:solidFill>
            <a:ln w="19050" cap="rnd">
              <a:solidFill>
                <a:srgbClr val="F8F8F8"/>
              </a:solidFill>
              <a:prstDash val="solid"/>
              <a:round/>
            </a:ln>
          </p:spPr>
        </p:sp>
        <p:sp>
          <p:nvSpPr>
            <p:cNvPr id="10" name="TextBox 10"/>
            <p:cNvSpPr txBox="1"/>
            <p:nvPr/>
          </p:nvSpPr>
          <p:spPr>
            <a:xfrm>
              <a:off x="0" y="-38100"/>
              <a:ext cx="2544438" cy="779464"/>
            </a:xfrm>
            <a:prstGeom prst="rect">
              <a:avLst/>
            </a:prstGeom>
          </p:spPr>
          <p:txBody>
            <a:bodyPr lIns="50800" tIns="50800" rIns="50800" bIns="50800" rtlCol="0" anchor="ctr"/>
            <a:lstStyle/>
            <a:p>
              <a:pPr algn="ctr">
                <a:lnSpc>
                  <a:spcPts val="2940"/>
                </a:lnSpc>
              </a:pPr>
              <a:endParaRPr/>
            </a:p>
          </p:txBody>
        </p:sp>
      </p:grpSp>
      <p:sp>
        <p:nvSpPr>
          <p:cNvPr id="11" name="Freeform 11"/>
          <p:cNvSpPr/>
          <p:nvPr/>
        </p:nvSpPr>
        <p:spPr>
          <a:xfrm>
            <a:off x="4895192" y="4168285"/>
            <a:ext cx="1423989" cy="1423989"/>
          </a:xfrm>
          <a:custGeom>
            <a:avLst/>
            <a:gdLst/>
            <a:ahLst/>
            <a:cxnLst/>
            <a:rect l="l" t="t" r="r" b="b"/>
            <a:pathLst>
              <a:path w="1423989" h="1423989">
                <a:moveTo>
                  <a:pt x="0" y="0"/>
                </a:moveTo>
                <a:lnTo>
                  <a:pt x="1423988" y="0"/>
                </a:lnTo>
                <a:lnTo>
                  <a:pt x="1423988" y="1423988"/>
                </a:lnTo>
                <a:lnTo>
                  <a:pt x="0" y="142398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TextBox 12"/>
          <p:cNvSpPr txBox="1"/>
          <p:nvPr/>
        </p:nvSpPr>
        <p:spPr>
          <a:xfrm>
            <a:off x="953566" y="1808628"/>
            <a:ext cx="16082419" cy="1500506"/>
          </a:xfrm>
          <a:prstGeom prst="rect">
            <a:avLst/>
          </a:prstGeom>
        </p:spPr>
        <p:txBody>
          <a:bodyPr lIns="0" tIns="0" rIns="0" bIns="0" rtlCol="0" anchor="t">
            <a:spAutoFit/>
          </a:bodyPr>
          <a:lstStyle/>
          <a:p>
            <a:pPr algn="l">
              <a:lnSpc>
                <a:spcPts val="12319"/>
              </a:lnSpc>
            </a:pPr>
            <a:r>
              <a:rPr lang="en-US" sz="8799">
                <a:solidFill>
                  <a:srgbClr val="F8F8F8"/>
                </a:solidFill>
                <a:latin typeface="Inter"/>
                <a:ea typeface="Inter"/>
                <a:cs typeface="Inter"/>
                <a:sym typeface="Inter"/>
              </a:rPr>
              <a:t>Temporal Feature Engineering</a:t>
            </a:r>
          </a:p>
        </p:txBody>
      </p:sp>
      <p:sp>
        <p:nvSpPr>
          <p:cNvPr id="13" name="TextBox 13"/>
          <p:cNvSpPr txBox="1"/>
          <p:nvPr/>
        </p:nvSpPr>
        <p:spPr>
          <a:xfrm>
            <a:off x="1675526" y="7104487"/>
            <a:ext cx="4949786" cy="1680848"/>
          </a:xfrm>
          <a:prstGeom prst="rect">
            <a:avLst/>
          </a:prstGeom>
        </p:spPr>
        <p:txBody>
          <a:bodyPr lIns="0" tIns="0" rIns="0" bIns="0" rtlCol="0" anchor="t">
            <a:spAutoFit/>
          </a:bodyPr>
          <a:lstStyle/>
          <a:p>
            <a:pPr algn="l">
              <a:lnSpc>
                <a:spcPts val="2286"/>
              </a:lnSpc>
            </a:pPr>
            <a:r>
              <a:rPr lang="en-US" sz="1814" spc="-101">
                <a:solidFill>
                  <a:srgbClr val="F8F8F8"/>
                </a:solidFill>
                <a:latin typeface="Inter"/>
                <a:ea typeface="Inter"/>
                <a:cs typeface="Inter"/>
                <a:sym typeface="Inter"/>
              </a:rPr>
              <a:t>Implement the feature_extractor_vgg16.py module to convert raw image frames into high-level semantic representations. By freezing the convolutional base of VGG16, we generate fixed 512-dimensional feature vectors that act as the foundational input for our sequential models.</a:t>
            </a:r>
          </a:p>
        </p:txBody>
      </p:sp>
      <p:sp>
        <p:nvSpPr>
          <p:cNvPr id="14" name="TextBox 14"/>
          <p:cNvSpPr txBox="1"/>
          <p:nvPr/>
        </p:nvSpPr>
        <p:spPr>
          <a:xfrm>
            <a:off x="8138051" y="7530807"/>
            <a:ext cx="8581584" cy="74980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Utilize the sequence_dataset.py and gtsrb_sequence_preprocessing.py utilities to build temporal windows. This process groups 10 consecutive frames into a single tensor, formatted as $(batch, 10, 512)$, allowing the system to learn motion patterns rather than just static shapes. </a:t>
            </a:r>
          </a:p>
        </p:txBody>
      </p:sp>
      <p:sp>
        <p:nvSpPr>
          <p:cNvPr id="15" name="TextBox 15"/>
          <p:cNvSpPr txBox="1"/>
          <p:nvPr/>
        </p:nvSpPr>
        <p:spPr>
          <a:xfrm>
            <a:off x="7905647" y="4693471"/>
            <a:ext cx="8164727" cy="1146452"/>
          </a:xfrm>
          <a:prstGeom prst="rect">
            <a:avLst/>
          </a:prstGeom>
        </p:spPr>
        <p:txBody>
          <a:bodyPr lIns="0" tIns="0" rIns="0" bIns="0" rtlCol="0" anchor="t">
            <a:spAutoFit/>
          </a:bodyPr>
          <a:lstStyle/>
          <a:p>
            <a:pPr algn="l">
              <a:lnSpc>
                <a:spcPts val="2322"/>
              </a:lnSpc>
            </a:pPr>
            <a:r>
              <a:rPr lang="en-US" sz="1843" spc="-103">
                <a:solidFill>
                  <a:srgbClr val="F8F8F8"/>
                </a:solidFill>
                <a:latin typeface="Inter"/>
                <a:ea typeface="Inter"/>
                <a:cs typeface="Inter"/>
                <a:sym typeface="Inter"/>
              </a:rPr>
              <a:t>To maximize training efficiency, we implement a feature caching system within our preprocessing pipeline. This avoids redundant VGG16 passes, significantly speeding up the unified_trainer.py loop and allowing for rapid iteration across different sequential architectures.</a:t>
            </a:r>
          </a:p>
        </p:txBody>
      </p:sp>
      <p:sp>
        <p:nvSpPr>
          <p:cNvPr id="16" name="TextBox 16"/>
          <p:cNvSpPr txBox="1"/>
          <p:nvPr/>
        </p:nvSpPr>
        <p:spPr>
          <a:xfrm>
            <a:off x="1675526" y="6424383"/>
            <a:ext cx="4949786" cy="381762"/>
          </a:xfrm>
          <a:prstGeom prst="rect">
            <a:avLst/>
          </a:prstGeom>
        </p:spPr>
        <p:txBody>
          <a:bodyPr lIns="0" tIns="0" rIns="0" bIns="0" rtlCol="0" anchor="t">
            <a:spAutoFit/>
          </a:bodyPr>
          <a:lstStyle/>
          <a:p>
            <a:pPr algn="l">
              <a:lnSpc>
                <a:spcPts val="3024"/>
              </a:lnSpc>
            </a:pPr>
            <a:r>
              <a:rPr lang="en-US" sz="2400" b="1" spc="-134">
                <a:solidFill>
                  <a:srgbClr val="F8F8F8"/>
                </a:solidFill>
                <a:latin typeface="Inter Bold"/>
                <a:ea typeface="Inter Bold"/>
                <a:cs typeface="Inter Bold"/>
                <a:sym typeface="Inter Bold"/>
              </a:rPr>
              <a:t>Service 01: VGG16 Feature Backbone</a:t>
            </a:r>
          </a:p>
        </p:txBody>
      </p:sp>
      <p:sp>
        <p:nvSpPr>
          <p:cNvPr id="17" name="TextBox 17"/>
          <p:cNvSpPr txBox="1"/>
          <p:nvPr/>
        </p:nvSpPr>
        <p:spPr>
          <a:xfrm>
            <a:off x="7893021" y="6769122"/>
            <a:ext cx="8826615" cy="385648"/>
          </a:xfrm>
          <a:prstGeom prst="rect">
            <a:avLst/>
          </a:prstGeom>
        </p:spPr>
        <p:txBody>
          <a:bodyPr lIns="0" tIns="0" rIns="0" bIns="0" rtlCol="0" anchor="t">
            <a:spAutoFit/>
          </a:bodyPr>
          <a:lstStyle/>
          <a:p>
            <a:pPr algn="l">
              <a:lnSpc>
                <a:spcPts val="3135"/>
              </a:lnSpc>
            </a:pPr>
            <a:r>
              <a:rPr lang="en-US" sz="2488" b="1" spc="-139">
                <a:solidFill>
                  <a:srgbClr val="101010"/>
                </a:solidFill>
                <a:latin typeface="Inter Bold"/>
                <a:ea typeface="Inter Bold"/>
                <a:cs typeface="Inter Bold"/>
                <a:sym typeface="Inter Bold"/>
              </a:rPr>
              <a:t>Service 03: 10-Frame Sequence Generation</a:t>
            </a:r>
          </a:p>
        </p:txBody>
      </p:sp>
      <p:sp>
        <p:nvSpPr>
          <p:cNvPr id="18" name="TextBox 18"/>
          <p:cNvSpPr txBox="1"/>
          <p:nvPr/>
        </p:nvSpPr>
        <p:spPr>
          <a:xfrm>
            <a:off x="7905647" y="4219441"/>
            <a:ext cx="6212634" cy="381762"/>
          </a:xfrm>
          <a:prstGeom prst="rect">
            <a:avLst/>
          </a:prstGeom>
        </p:spPr>
        <p:txBody>
          <a:bodyPr lIns="0" tIns="0" rIns="0" bIns="0" rtlCol="0" anchor="t">
            <a:spAutoFit/>
          </a:bodyPr>
          <a:lstStyle/>
          <a:p>
            <a:pPr algn="l">
              <a:lnSpc>
                <a:spcPts val="3024"/>
              </a:lnSpc>
            </a:pPr>
            <a:r>
              <a:rPr lang="en-US" sz="2400" b="1" spc="-134">
                <a:solidFill>
                  <a:srgbClr val="F8F8F8"/>
                </a:solidFill>
                <a:latin typeface="Inter Bold"/>
                <a:ea typeface="Inter Bold"/>
                <a:cs typeface="Inter Bold"/>
                <a:sym typeface="Inter Bold"/>
              </a:rPr>
              <a:t>Servicen 02: Feature Caching &amp; Optimization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1010"/>
        </a:solidFill>
        <a:effectLst/>
      </p:bgPr>
    </p:bg>
    <p:spTree>
      <p:nvGrpSpPr>
        <p:cNvPr id="1" name=""/>
        <p:cNvGrpSpPr/>
        <p:nvPr/>
      </p:nvGrpSpPr>
      <p:grpSpPr>
        <a:xfrm>
          <a:off x="0" y="0"/>
          <a:ext cx="0" cy="0"/>
          <a:chOff x="0" y="0"/>
          <a:chExt cx="0" cy="0"/>
        </a:xfrm>
      </p:grpSpPr>
      <p:sp>
        <p:nvSpPr>
          <p:cNvPr id="2" name="TextBox 2"/>
          <p:cNvSpPr txBox="1"/>
          <p:nvPr/>
        </p:nvSpPr>
        <p:spPr>
          <a:xfrm>
            <a:off x="1744791" y="2002013"/>
            <a:ext cx="6485946" cy="2568080"/>
          </a:xfrm>
          <a:prstGeom prst="rect">
            <a:avLst/>
          </a:prstGeom>
        </p:spPr>
        <p:txBody>
          <a:bodyPr lIns="0" tIns="0" rIns="0" bIns="0" rtlCol="0" anchor="t">
            <a:spAutoFit/>
          </a:bodyPr>
          <a:lstStyle/>
          <a:p>
            <a:pPr algn="l">
              <a:lnSpc>
                <a:spcPts val="6674"/>
              </a:lnSpc>
            </a:pPr>
            <a:r>
              <a:rPr lang="en-US" sz="7100" spc="-333">
                <a:solidFill>
                  <a:srgbClr val="FFFFFF"/>
                </a:solidFill>
                <a:latin typeface="Inter"/>
                <a:ea typeface="Inter"/>
                <a:cs typeface="Inter"/>
                <a:sym typeface="Inter"/>
              </a:rPr>
              <a:t>Vanilla RNN (Recurrent Neural Network)</a:t>
            </a:r>
          </a:p>
        </p:txBody>
      </p:sp>
      <p:sp>
        <p:nvSpPr>
          <p:cNvPr id="3" name="TextBox 3"/>
          <p:cNvSpPr txBox="1"/>
          <p:nvPr/>
        </p:nvSpPr>
        <p:spPr>
          <a:xfrm>
            <a:off x="10107162" y="2002013"/>
            <a:ext cx="6485946" cy="1729880"/>
          </a:xfrm>
          <a:prstGeom prst="rect">
            <a:avLst/>
          </a:prstGeom>
        </p:spPr>
        <p:txBody>
          <a:bodyPr lIns="0" tIns="0" rIns="0" bIns="0" rtlCol="0" anchor="t">
            <a:spAutoFit/>
          </a:bodyPr>
          <a:lstStyle/>
          <a:p>
            <a:pPr marL="0" lvl="0" indent="0" algn="l">
              <a:lnSpc>
                <a:spcPts val="6674"/>
              </a:lnSpc>
              <a:spcBef>
                <a:spcPct val="0"/>
              </a:spcBef>
            </a:pPr>
            <a:r>
              <a:rPr lang="en-US" sz="7100" spc="-333">
                <a:solidFill>
                  <a:srgbClr val="FFFFFF"/>
                </a:solidFill>
                <a:latin typeface="Inter"/>
                <a:ea typeface="Inter"/>
                <a:cs typeface="Inter"/>
                <a:sym typeface="Inter"/>
              </a:rPr>
              <a:t>Gate</a:t>
            </a:r>
            <a:r>
              <a:rPr lang="en-US" sz="7100" u="none" strike="noStrike" spc="-333">
                <a:solidFill>
                  <a:srgbClr val="FFFFFF"/>
                </a:solidFill>
                <a:latin typeface="Inter"/>
                <a:ea typeface="Inter"/>
                <a:cs typeface="Inter"/>
                <a:sym typeface="Inter"/>
              </a:rPr>
              <a:t>d Recurrent Unit (GRU)</a:t>
            </a:r>
          </a:p>
        </p:txBody>
      </p:sp>
      <p:sp>
        <p:nvSpPr>
          <p:cNvPr id="4" name="TextBox 4"/>
          <p:cNvSpPr txBox="1"/>
          <p:nvPr/>
        </p:nvSpPr>
        <p:spPr>
          <a:xfrm>
            <a:off x="1744791" y="5276572"/>
            <a:ext cx="6485946"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Implement the fundamental base_sequential_models.py RNN class to handle frame-by-frame temporal updates.</a:t>
            </a:r>
          </a:p>
        </p:txBody>
      </p:sp>
      <p:sp>
        <p:nvSpPr>
          <p:cNvPr id="5" name="TextBox 5"/>
          <p:cNvSpPr txBox="1"/>
          <p:nvPr/>
        </p:nvSpPr>
        <p:spPr>
          <a:xfrm>
            <a:off x="10107162" y="5276572"/>
            <a:ext cx="6485946"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Introduce the GRU architecture as a sophisticated alternative to mitigate memory loss in the sequential pipeline.</a:t>
            </a:r>
          </a:p>
        </p:txBody>
      </p:sp>
      <p:sp>
        <p:nvSpPr>
          <p:cNvPr id="6" name="TextBox 6"/>
          <p:cNvSpPr txBox="1"/>
          <p:nvPr/>
        </p:nvSpPr>
        <p:spPr>
          <a:xfrm>
            <a:off x="1744791" y="6403589"/>
            <a:ext cx="6485946"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Analyze the model's ability to maintain a hidden state across the 10-frame sequence window.</a:t>
            </a:r>
          </a:p>
        </p:txBody>
      </p:sp>
      <p:sp>
        <p:nvSpPr>
          <p:cNvPr id="7" name="TextBox 7"/>
          <p:cNvSpPr txBox="1"/>
          <p:nvPr/>
        </p:nvSpPr>
        <p:spPr>
          <a:xfrm>
            <a:off x="10107162" y="6403589"/>
            <a:ext cx="6485946"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Utilize Reset and Update gates to selectively retain information from previous traffic sign frames.</a:t>
            </a:r>
          </a:p>
        </p:txBody>
      </p:sp>
      <p:sp>
        <p:nvSpPr>
          <p:cNvPr id="8" name="TextBox 8"/>
          <p:cNvSpPr txBox="1"/>
          <p:nvPr/>
        </p:nvSpPr>
        <p:spPr>
          <a:xfrm>
            <a:off x="1744791" y="7530607"/>
            <a:ext cx="6485946" cy="935355"/>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Identify performance bottlenecks, specifically focusing on the vanishing gradient problem during backpropagation through time.</a:t>
            </a:r>
          </a:p>
        </p:txBody>
      </p:sp>
      <p:sp>
        <p:nvSpPr>
          <p:cNvPr id="9" name="TextBox 9"/>
          <p:cNvSpPr txBox="1"/>
          <p:nvPr/>
        </p:nvSpPr>
        <p:spPr>
          <a:xfrm>
            <a:off x="10107162" y="7530607"/>
            <a:ext cx="6485946" cy="621030"/>
          </a:xfrm>
          <a:prstGeom prst="rect">
            <a:avLst/>
          </a:prstGeom>
        </p:spPr>
        <p:txBody>
          <a:bodyPr lIns="0" tIns="0" rIns="0" bIns="0" rtlCol="0" anchor="t">
            <a:spAutoFit/>
          </a:bodyPr>
          <a:lstStyle/>
          <a:p>
            <a:pPr marL="388620" lvl="1" indent="-194310" algn="l">
              <a:lnSpc>
                <a:spcPts val="2520"/>
              </a:lnSpc>
              <a:buFont typeface="Arial"/>
              <a:buChar char="•"/>
            </a:pPr>
            <a:r>
              <a:rPr lang="en-US" sz="1800" spc="-84">
                <a:solidFill>
                  <a:srgbClr val="FFFFFF"/>
                </a:solidFill>
                <a:latin typeface="Inter"/>
                <a:ea typeface="Inter"/>
                <a:cs typeface="Inter"/>
                <a:sym typeface="Inter"/>
              </a:rPr>
              <a:t>Compare training stability and convergence speed against the vanilla RNN using the unified_trainer.py logs.</a:t>
            </a:r>
          </a:p>
        </p:txBody>
      </p:sp>
      <p:sp>
        <p:nvSpPr>
          <p:cNvPr id="10" name="AutoShape 10"/>
          <p:cNvSpPr/>
          <p:nvPr/>
        </p:nvSpPr>
        <p:spPr>
          <a:xfrm>
            <a:off x="1694892" y="4802295"/>
            <a:ext cx="6492240" cy="0"/>
          </a:xfrm>
          <a:prstGeom prst="line">
            <a:avLst/>
          </a:prstGeom>
          <a:ln w="38100" cap="flat">
            <a:solidFill>
              <a:srgbClr val="D0D7DD"/>
            </a:solidFill>
            <a:prstDash val="sysDash"/>
            <a:headEnd type="none" w="sm" len="sm"/>
            <a:tailEnd type="none" w="sm" len="sm"/>
          </a:ln>
        </p:spPr>
      </p:sp>
      <p:sp>
        <p:nvSpPr>
          <p:cNvPr id="11" name="AutoShape 11"/>
          <p:cNvSpPr/>
          <p:nvPr/>
        </p:nvSpPr>
        <p:spPr>
          <a:xfrm>
            <a:off x="10100868" y="4802295"/>
            <a:ext cx="6492240" cy="0"/>
          </a:xfrm>
          <a:prstGeom prst="line">
            <a:avLst/>
          </a:prstGeom>
          <a:ln w="38100" cap="flat">
            <a:solidFill>
              <a:srgbClr val="D0D7DD"/>
            </a:solidFill>
            <a:prstDash val="sysDash"/>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6176939" y="1028700"/>
            <a:ext cx="5431292" cy="5245217"/>
            <a:chOff x="0" y="0"/>
            <a:chExt cx="841449" cy="812621"/>
          </a:xfrm>
        </p:grpSpPr>
        <p:sp>
          <p:nvSpPr>
            <p:cNvPr id="3" name="Freeform 3"/>
            <p:cNvSpPr/>
            <p:nvPr/>
          </p:nvSpPr>
          <p:spPr>
            <a:xfrm>
              <a:off x="0" y="0"/>
              <a:ext cx="841449" cy="812621"/>
            </a:xfrm>
            <a:custGeom>
              <a:avLst/>
              <a:gdLst/>
              <a:ahLst/>
              <a:cxnLst/>
              <a:rect l="l" t="t" r="r" b="b"/>
              <a:pathLst>
                <a:path w="841449" h="812621">
                  <a:moveTo>
                    <a:pt x="0" y="0"/>
                  </a:moveTo>
                  <a:lnTo>
                    <a:pt x="841449" y="0"/>
                  </a:lnTo>
                  <a:lnTo>
                    <a:pt x="841449" y="812621"/>
                  </a:lnTo>
                  <a:lnTo>
                    <a:pt x="0" y="812621"/>
                  </a:lnTo>
                  <a:close/>
                </a:path>
              </a:pathLst>
            </a:custGeom>
            <a:blipFill>
              <a:blip r:embed="rId2"/>
              <a:stretch>
                <a:fillRect l="-15252" r="-15252"/>
              </a:stretch>
            </a:blipFill>
            <a:ln cap="sq">
              <a:noFill/>
              <a:prstDash val="solid"/>
              <a:miter/>
            </a:ln>
          </p:spPr>
        </p:sp>
      </p:grpSp>
      <p:sp>
        <p:nvSpPr>
          <p:cNvPr id="4" name="TextBox 4"/>
          <p:cNvSpPr txBox="1"/>
          <p:nvPr/>
        </p:nvSpPr>
        <p:spPr>
          <a:xfrm>
            <a:off x="12052140" y="2222732"/>
            <a:ext cx="6068970" cy="372745"/>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Advantage 01: LSTM with Temporal Attention</a:t>
            </a:r>
          </a:p>
        </p:txBody>
      </p:sp>
      <p:sp>
        <p:nvSpPr>
          <p:cNvPr id="5" name="TextBox 5"/>
          <p:cNvSpPr txBox="1"/>
          <p:nvPr/>
        </p:nvSpPr>
        <p:spPr>
          <a:xfrm>
            <a:off x="12052140" y="4839441"/>
            <a:ext cx="6068970" cy="763270"/>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Advantage 02: Multi-Head Transformer Architecture</a:t>
            </a:r>
          </a:p>
        </p:txBody>
      </p:sp>
      <p:sp>
        <p:nvSpPr>
          <p:cNvPr id="6" name="TextBox 6"/>
          <p:cNvSpPr txBox="1"/>
          <p:nvPr/>
        </p:nvSpPr>
        <p:spPr>
          <a:xfrm>
            <a:off x="12052140" y="7193534"/>
            <a:ext cx="6068970" cy="763270"/>
          </a:xfrm>
          <a:prstGeom prst="rect">
            <a:avLst/>
          </a:prstGeom>
        </p:spPr>
        <p:txBody>
          <a:bodyPr lIns="0" tIns="0" rIns="0" bIns="0" rtlCol="0" anchor="t">
            <a:spAutoFit/>
          </a:bodyPr>
          <a:lstStyle/>
          <a:p>
            <a:pPr algn="l">
              <a:lnSpc>
                <a:spcPts val="3080"/>
              </a:lnSpc>
            </a:pPr>
            <a:r>
              <a:rPr lang="en-US" sz="2200" b="1">
                <a:solidFill>
                  <a:srgbClr val="101010"/>
                </a:solidFill>
                <a:latin typeface="Inter Bold"/>
                <a:ea typeface="Inter Bold"/>
                <a:cs typeface="Inter Bold"/>
                <a:sym typeface="Inter Bold"/>
              </a:rPr>
              <a:t>Advantage 03: Scalable Sequence Processing</a:t>
            </a:r>
          </a:p>
        </p:txBody>
      </p:sp>
      <p:sp>
        <p:nvSpPr>
          <p:cNvPr id="7" name="TextBox 7"/>
          <p:cNvSpPr txBox="1"/>
          <p:nvPr/>
        </p:nvSpPr>
        <p:spPr>
          <a:xfrm>
            <a:off x="12288924" y="2938377"/>
            <a:ext cx="4970376" cy="149275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We enhance the Long Short-Term Memory (LSTM) network with a custom Attention mechanism. This allows the model to dynamically weigh the importance of specific frames in a sequence, effectively "looking back" at the most relevant past events to inform current road scene classification.</a:t>
            </a:r>
          </a:p>
        </p:txBody>
      </p:sp>
      <p:sp>
        <p:nvSpPr>
          <p:cNvPr id="8" name="TextBox 8"/>
          <p:cNvSpPr txBox="1"/>
          <p:nvPr/>
        </p:nvSpPr>
        <p:spPr>
          <a:xfrm>
            <a:off x="12288924" y="5641838"/>
            <a:ext cx="4970376" cy="124510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By deploying a Multi-head Transformer, we move beyond sequential processing. This architecture utilizes parallel self-attention heads to identify complex, non-linear relationships across the entire temporal window simultaneously, resulting in superior feature representation and faster convergence.</a:t>
            </a:r>
          </a:p>
        </p:txBody>
      </p:sp>
      <p:sp>
        <p:nvSpPr>
          <p:cNvPr id="9" name="TextBox 9"/>
          <p:cNvSpPr txBox="1"/>
          <p:nvPr/>
        </p:nvSpPr>
        <p:spPr>
          <a:xfrm>
            <a:off x="1063874" y="3374119"/>
            <a:ext cx="4669155" cy="1887424"/>
          </a:xfrm>
          <a:prstGeom prst="rect">
            <a:avLst/>
          </a:prstGeom>
        </p:spPr>
        <p:txBody>
          <a:bodyPr lIns="0" tIns="0" rIns="0" bIns="0" rtlCol="0" anchor="t">
            <a:spAutoFit/>
          </a:bodyPr>
          <a:lstStyle/>
          <a:p>
            <a:pPr algn="l">
              <a:lnSpc>
                <a:spcPts val="2199"/>
              </a:lnSpc>
            </a:pPr>
            <a:r>
              <a:rPr lang="en-US" sz="1745" spc="-97">
                <a:solidFill>
                  <a:srgbClr val="101010"/>
                </a:solidFill>
                <a:latin typeface="Inter"/>
                <a:ea typeface="Inter"/>
                <a:cs typeface="Inter"/>
                <a:sym typeface="Inter"/>
              </a:rPr>
              <a:t>To overcome the memory constraints of traditional sequential models, we integrate attention-based architectures. These models prioritize critical temporal information within the 10-frame sequence, ensuring the system remains focused on high-impact visual features like moving hazards or changing traffic signals.</a:t>
            </a:r>
          </a:p>
        </p:txBody>
      </p:sp>
      <p:sp>
        <p:nvSpPr>
          <p:cNvPr id="10" name="TextBox 10"/>
          <p:cNvSpPr txBox="1"/>
          <p:nvPr/>
        </p:nvSpPr>
        <p:spPr>
          <a:xfrm>
            <a:off x="12288924" y="8013192"/>
            <a:ext cx="4970376" cy="1492758"/>
          </a:xfrm>
          <a:prstGeom prst="rect">
            <a:avLst/>
          </a:prstGeom>
        </p:spPr>
        <p:txBody>
          <a:bodyPr lIns="0" tIns="0" rIns="0" bIns="0" rtlCol="0" anchor="t">
            <a:spAutoFit/>
          </a:bodyPr>
          <a:lstStyle/>
          <a:p>
            <a:pPr algn="l">
              <a:lnSpc>
                <a:spcPts val="2015"/>
              </a:lnSpc>
            </a:pPr>
            <a:r>
              <a:rPr lang="en-US" sz="1599" spc="-89">
                <a:solidFill>
                  <a:srgbClr val="101010"/>
                </a:solidFill>
                <a:latin typeface="Inter"/>
                <a:ea typeface="Inter"/>
                <a:cs typeface="Inter"/>
                <a:sym typeface="Inter"/>
              </a:rPr>
              <a:t>These architectures are designed to be highly scalable within our Unified Training framework. The modular implementation allows for seamless integration of larger temporal windows or higher-dimensional feature vectors without degrading inference performance in real-time autonomous environments.</a:t>
            </a:r>
          </a:p>
        </p:txBody>
      </p:sp>
      <p:sp>
        <p:nvSpPr>
          <p:cNvPr id="11" name="TextBox 11"/>
          <p:cNvSpPr txBox="1"/>
          <p:nvPr/>
        </p:nvSpPr>
        <p:spPr>
          <a:xfrm>
            <a:off x="1028700" y="6902958"/>
            <a:ext cx="8408569" cy="2355342"/>
          </a:xfrm>
          <a:prstGeom prst="rect">
            <a:avLst/>
          </a:prstGeom>
        </p:spPr>
        <p:txBody>
          <a:bodyPr lIns="0" tIns="0" rIns="0" bIns="0" rtlCol="0" anchor="t">
            <a:spAutoFit/>
          </a:bodyPr>
          <a:lstStyle/>
          <a:p>
            <a:pPr algn="l">
              <a:lnSpc>
                <a:spcPts val="9024"/>
              </a:lnSpc>
            </a:pPr>
            <a:r>
              <a:rPr lang="en-US" sz="9600" spc="-451">
                <a:solidFill>
                  <a:srgbClr val="000000"/>
                </a:solidFill>
                <a:latin typeface="Inter"/>
                <a:ea typeface="Inter"/>
                <a:cs typeface="Inter"/>
                <a:sym typeface="Inter"/>
              </a:rPr>
              <a:t>Key Technical Advancements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1010"/>
        </a:solidFill>
        <a:effectLst/>
      </p:bgPr>
    </p:bg>
    <p:spTree>
      <p:nvGrpSpPr>
        <p:cNvPr id="1" name=""/>
        <p:cNvGrpSpPr/>
        <p:nvPr/>
      </p:nvGrpSpPr>
      <p:grpSpPr>
        <a:xfrm>
          <a:off x="0" y="0"/>
          <a:ext cx="0" cy="0"/>
          <a:chOff x="0" y="0"/>
          <a:chExt cx="0" cy="0"/>
        </a:xfrm>
      </p:grpSpPr>
      <p:sp>
        <p:nvSpPr>
          <p:cNvPr id="2" name="TextBox 2"/>
          <p:cNvSpPr txBox="1"/>
          <p:nvPr/>
        </p:nvSpPr>
        <p:spPr>
          <a:xfrm>
            <a:off x="890261" y="2244794"/>
            <a:ext cx="9801993" cy="1114439"/>
          </a:xfrm>
          <a:prstGeom prst="rect">
            <a:avLst/>
          </a:prstGeom>
        </p:spPr>
        <p:txBody>
          <a:bodyPr lIns="0" tIns="0" rIns="0" bIns="0" rtlCol="0" anchor="t">
            <a:spAutoFit/>
          </a:bodyPr>
          <a:lstStyle/>
          <a:p>
            <a:pPr algn="just">
              <a:lnSpc>
                <a:spcPts val="8100"/>
              </a:lnSpc>
            </a:pPr>
            <a:r>
              <a:rPr lang="en-US" sz="9000">
                <a:solidFill>
                  <a:srgbClr val="F8F8F8"/>
                </a:solidFill>
                <a:latin typeface="Inter"/>
                <a:ea typeface="Inter"/>
                <a:cs typeface="Inter"/>
                <a:sym typeface="Inter"/>
              </a:rPr>
              <a:t>TRAINING LOGIC</a:t>
            </a:r>
          </a:p>
        </p:txBody>
      </p:sp>
      <p:sp>
        <p:nvSpPr>
          <p:cNvPr id="3" name="TextBox 3"/>
          <p:cNvSpPr txBox="1"/>
          <p:nvPr/>
        </p:nvSpPr>
        <p:spPr>
          <a:xfrm>
            <a:off x="1028700" y="4013598"/>
            <a:ext cx="7419194" cy="1758950"/>
          </a:xfrm>
          <a:prstGeom prst="rect">
            <a:avLst/>
          </a:prstGeom>
        </p:spPr>
        <p:txBody>
          <a:bodyPr lIns="0" tIns="0" rIns="0" bIns="0" rtlCol="0" anchor="t">
            <a:spAutoFit/>
          </a:bodyPr>
          <a:lstStyle/>
          <a:p>
            <a:pPr algn="just">
              <a:lnSpc>
                <a:spcPts val="2800"/>
              </a:lnSpc>
            </a:pPr>
            <a:r>
              <a:rPr lang="en-US" sz="2000" spc="-80">
                <a:solidFill>
                  <a:srgbClr val="F8F8F8"/>
                </a:solidFill>
                <a:latin typeface="Inter"/>
                <a:ea typeface="Inter"/>
                <a:cs typeface="Inter"/>
                <a:sym typeface="Inter"/>
              </a:rPr>
              <a:t>To ensure a fair and rigorous comparison, we developed a unified_trainer.py framework. This centralized logic allows for a single training loop to handle all sequential architectures RNN, GRU, LSTM,and Transformers—maintaining consistent hyperparameters and optimization strategies across every experiment.</a:t>
            </a:r>
          </a:p>
        </p:txBody>
      </p:sp>
      <p:pic>
        <p:nvPicPr>
          <p:cNvPr id="4" name="Picture 4"/>
          <p:cNvPicPr>
            <a:picLocks noChangeAspect="1"/>
          </p:cNvPicPr>
          <p:nvPr/>
        </p:nvPicPr>
        <p:blipFill>
          <a:blip r:embed="rId2"/>
          <a:stretch>
            <a:fillRect/>
          </a:stretch>
        </p:blipFill>
        <p:spPr>
          <a:xfrm>
            <a:off x="9463817" y="1425617"/>
            <a:ext cx="8435957" cy="8748679"/>
          </a:xfrm>
          <a:prstGeom prst="rect">
            <a:avLst/>
          </a:prstGeom>
        </p:spPr>
      </p:pic>
      <p:grpSp>
        <p:nvGrpSpPr>
          <p:cNvPr id="5" name="Group 5"/>
          <p:cNvGrpSpPr/>
          <p:nvPr/>
        </p:nvGrpSpPr>
        <p:grpSpPr>
          <a:xfrm>
            <a:off x="748043" y="6433653"/>
            <a:ext cx="7308958" cy="752542"/>
            <a:chOff x="0" y="0"/>
            <a:chExt cx="1924993" cy="198200"/>
          </a:xfrm>
        </p:grpSpPr>
        <p:sp>
          <p:nvSpPr>
            <p:cNvPr id="6" name="Freeform 6"/>
            <p:cNvSpPr/>
            <p:nvPr/>
          </p:nvSpPr>
          <p:spPr>
            <a:xfrm>
              <a:off x="0" y="0"/>
              <a:ext cx="1924993" cy="198200"/>
            </a:xfrm>
            <a:custGeom>
              <a:avLst/>
              <a:gdLst/>
              <a:ahLst/>
              <a:cxnLst/>
              <a:rect l="l" t="t" r="r" b="b"/>
              <a:pathLst>
                <a:path w="1924993" h="198200">
                  <a:moveTo>
                    <a:pt x="69910" y="0"/>
                  </a:moveTo>
                  <a:lnTo>
                    <a:pt x="1855083" y="0"/>
                  </a:lnTo>
                  <a:cubicBezTo>
                    <a:pt x="1873625" y="0"/>
                    <a:pt x="1891406" y="7365"/>
                    <a:pt x="1904517" y="20476"/>
                  </a:cubicBezTo>
                  <a:cubicBezTo>
                    <a:pt x="1917628" y="33587"/>
                    <a:pt x="1924993" y="51368"/>
                    <a:pt x="1924993" y="69910"/>
                  </a:cubicBezTo>
                  <a:lnTo>
                    <a:pt x="1924993" y="128291"/>
                  </a:lnTo>
                  <a:cubicBezTo>
                    <a:pt x="1924993" y="166901"/>
                    <a:pt x="1893693" y="198200"/>
                    <a:pt x="1855083" y="198200"/>
                  </a:cubicBezTo>
                  <a:lnTo>
                    <a:pt x="69910" y="198200"/>
                  </a:lnTo>
                  <a:cubicBezTo>
                    <a:pt x="51368" y="198200"/>
                    <a:pt x="33587" y="190835"/>
                    <a:pt x="20476" y="177724"/>
                  </a:cubicBezTo>
                  <a:cubicBezTo>
                    <a:pt x="7365" y="164614"/>
                    <a:pt x="0" y="146832"/>
                    <a:pt x="0" y="128291"/>
                  </a:cubicBezTo>
                  <a:lnTo>
                    <a:pt x="0" y="69910"/>
                  </a:lnTo>
                  <a:cubicBezTo>
                    <a:pt x="0" y="51368"/>
                    <a:pt x="7365" y="33587"/>
                    <a:pt x="20476" y="20476"/>
                  </a:cubicBezTo>
                  <a:cubicBezTo>
                    <a:pt x="33587" y="7365"/>
                    <a:pt x="51368" y="0"/>
                    <a:pt x="69910" y="0"/>
                  </a:cubicBezTo>
                  <a:close/>
                </a:path>
              </a:pathLst>
            </a:custGeom>
            <a:ln w="19050" cap="rnd">
              <a:solidFill>
                <a:srgbClr val="F8F8F8"/>
              </a:solidFill>
              <a:prstDash val="solid"/>
              <a:round/>
            </a:ln>
          </p:spPr>
        </p:sp>
        <p:sp>
          <p:nvSpPr>
            <p:cNvPr id="7" name="TextBox 7"/>
            <p:cNvSpPr txBox="1"/>
            <p:nvPr/>
          </p:nvSpPr>
          <p:spPr>
            <a:xfrm>
              <a:off x="0" y="-28575"/>
              <a:ext cx="1924993" cy="226775"/>
            </a:xfrm>
            <a:prstGeom prst="rect">
              <a:avLst/>
            </a:prstGeom>
          </p:spPr>
          <p:txBody>
            <a:bodyPr lIns="50800" tIns="50800" rIns="50800" bIns="50800" rtlCol="0" anchor="ctr"/>
            <a:lstStyle/>
            <a:p>
              <a:pPr algn="ctr">
                <a:lnSpc>
                  <a:spcPts val="2015"/>
                </a:lnSpc>
              </a:pPr>
              <a:endParaRPr/>
            </a:p>
          </p:txBody>
        </p:sp>
      </p:grpSp>
      <p:grpSp>
        <p:nvGrpSpPr>
          <p:cNvPr id="8" name="Group 8"/>
          <p:cNvGrpSpPr/>
          <p:nvPr/>
        </p:nvGrpSpPr>
        <p:grpSpPr>
          <a:xfrm>
            <a:off x="748043" y="7471945"/>
            <a:ext cx="7308958" cy="752464"/>
            <a:chOff x="0" y="0"/>
            <a:chExt cx="1924993" cy="198180"/>
          </a:xfrm>
        </p:grpSpPr>
        <p:sp>
          <p:nvSpPr>
            <p:cNvPr id="9" name="Freeform 9"/>
            <p:cNvSpPr/>
            <p:nvPr/>
          </p:nvSpPr>
          <p:spPr>
            <a:xfrm>
              <a:off x="0" y="0"/>
              <a:ext cx="1924993" cy="198180"/>
            </a:xfrm>
            <a:custGeom>
              <a:avLst/>
              <a:gdLst/>
              <a:ahLst/>
              <a:cxnLst/>
              <a:rect l="l" t="t" r="r" b="b"/>
              <a:pathLst>
                <a:path w="1924993" h="198180">
                  <a:moveTo>
                    <a:pt x="69910" y="0"/>
                  </a:moveTo>
                  <a:lnTo>
                    <a:pt x="1855083" y="0"/>
                  </a:lnTo>
                  <a:cubicBezTo>
                    <a:pt x="1873625" y="0"/>
                    <a:pt x="1891406" y="7365"/>
                    <a:pt x="1904517" y="20476"/>
                  </a:cubicBezTo>
                  <a:cubicBezTo>
                    <a:pt x="1917628" y="33587"/>
                    <a:pt x="1924993" y="51368"/>
                    <a:pt x="1924993" y="69910"/>
                  </a:cubicBezTo>
                  <a:lnTo>
                    <a:pt x="1924993" y="128270"/>
                  </a:lnTo>
                  <a:cubicBezTo>
                    <a:pt x="1924993" y="146811"/>
                    <a:pt x="1917628" y="164593"/>
                    <a:pt x="1904517" y="177704"/>
                  </a:cubicBezTo>
                  <a:cubicBezTo>
                    <a:pt x="1891406" y="190814"/>
                    <a:pt x="1873625" y="198180"/>
                    <a:pt x="1855083" y="198180"/>
                  </a:cubicBezTo>
                  <a:lnTo>
                    <a:pt x="69910" y="198180"/>
                  </a:lnTo>
                  <a:cubicBezTo>
                    <a:pt x="31300" y="198180"/>
                    <a:pt x="0" y="166880"/>
                    <a:pt x="0" y="128270"/>
                  </a:cubicBezTo>
                  <a:lnTo>
                    <a:pt x="0" y="69910"/>
                  </a:lnTo>
                  <a:cubicBezTo>
                    <a:pt x="0" y="51368"/>
                    <a:pt x="7365" y="33587"/>
                    <a:pt x="20476" y="20476"/>
                  </a:cubicBezTo>
                  <a:cubicBezTo>
                    <a:pt x="33587" y="7365"/>
                    <a:pt x="51368" y="0"/>
                    <a:pt x="69910" y="0"/>
                  </a:cubicBezTo>
                  <a:close/>
                </a:path>
              </a:pathLst>
            </a:custGeom>
            <a:solidFill>
              <a:srgbClr val="F8F8F8"/>
            </a:solidFill>
            <a:ln w="19050" cap="rnd">
              <a:solidFill>
                <a:srgbClr val="424242"/>
              </a:solidFill>
              <a:prstDash val="solid"/>
              <a:round/>
            </a:ln>
          </p:spPr>
        </p:sp>
        <p:sp>
          <p:nvSpPr>
            <p:cNvPr id="10" name="TextBox 10"/>
            <p:cNvSpPr txBox="1"/>
            <p:nvPr/>
          </p:nvSpPr>
          <p:spPr>
            <a:xfrm>
              <a:off x="0" y="-28575"/>
              <a:ext cx="1924993" cy="226755"/>
            </a:xfrm>
            <a:prstGeom prst="rect">
              <a:avLst/>
            </a:prstGeom>
          </p:spPr>
          <p:txBody>
            <a:bodyPr lIns="50800" tIns="50800" rIns="50800" bIns="50800" rtlCol="0" anchor="ctr"/>
            <a:lstStyle/>
            <a:p>
              <a:pPr algn="ctr">
                <a:lnSpc>
                  <a:spcPts val="2015"/>
                </a:lnSpc>
              </a:pPr>
              <a:endParaRPr/>
            </a:p>
          </p:txBody>
        </p:sp>
      </p:grpSp>
      <p:sp>
        <p:nvSpPr>
          <p:cNvPr id="11" name="TextBox 11"/>
          <p:cNvSpPr txBox="1"/>
          <p:nvPr/>
        </p:nvSpPr>
        <p:spPr>
          <a:xfrm>
            <a:off x="890261" y="6579943"/>
            <a:ext cx="7006162" cy="372745"/>
          </a:xfrm>
          <a:prstGeom prst="rect">
            <a:avLst/>
          </a:prstGeom>
        </p:spPr>
        <p:txBody>
          <a:bodyPr lIns="0" tIns="0" rIns="0" bIns="0" rtlCol="0" anchor="t">
            <a:spAutoFit/>
          </a:bodyPr>
          <a:lstStyle/>
          <a:p>
            <a:pPr algn="ctr">
              <a:lnSpc>
                <a:spcPts val="3079"/>
              </a:lnSpc>
            </a:pPr>
            <a:r>
              <a:rPr lang="en-US" sz="2199" b="1" spc="-103">
                <a:solidFill>
                  <a:srgbClr val="F8F8F8"/>
                </a:solidFill>
                <a:latin typeface="Inter Bold"/>
                <a:ea typeface="Inter Bold"/>
                <a:cs typeface="Inter Bold"/>
                <a:sym typeface="Inter Bold"/>
              </a:rPr>
              <a:t>Centralized config.py for global hyperparameter control.</a:t>
            </a:r>
          </a:p>
        </p:txBody>
      </p:sp>
      <p:sp>
        <p:nvSpPr>
          <p:cNvPr id="12" name="TextBox 12"/>
          <p:cNvSpPr txBox="1"/>
          <p:nvPr/>
        </p:nvSpPr>
        <p:spPr>
          <a:xfrm>
            <a:off x="890261" y="7641830"/>
            <a:ext cx="7006162" cy="372745"/>
          </a:xfrm>
          <a:prstGeom prst="rect">
            <a:avLst/>
          </a:prstGeom>
        </p:spPr>
        <p:txBody>
          <a:bodyPr lIns="0" tIns="0" rIns="0" bIns="0" rtlCol="0" anchor="t">
            <a:spAutoFit/>
          </a:bodyPr>
          <a:lstStyle/>
          <a:p>
            <a:pPr algn="ctr">
              <a:lnSpc>
                <a:spcPts val="3079"/>
              </a:lnSpc>
            </a:pPr>
            <a:r>
              <a:rPr lang="en-US" sz="2199" b="1" spc="-103">
                <a:solidFill>
                  <a:srgbClr val="424242"/>
                </a:solidFill>
                <a:latin typeface="Inter Bold"/>
                <a:ea typeface="Inter Bold"/>
                <a:cs typeface="Inter Bold"/>
                <a:sym typeface="Inter Bold"/>
              </a:rPr>
              <a:t>Automated reports/ generation for model benchmarking.</a:t>
            </a:r>
          </a:p>
        </p:txBody>
      </p:sp>
      <p:grpSp>
        <p:nvGrpSpPr>
          <p:cNvPr id="13" name="Group 13"/>
          <p:cNvGrpSpPr/>
          <p:nvPr/>
        </p:nvGrpSpPr>
        <p:grpSpPr>
          <a:xfrm>
            <a:off x="748043" y="8510237"/>
            <a:ext cx="7308958" cy="748063"/>
            <a:chOff x="0" y="0"/>
            <a:chExt cx="1924993" cy="197021"/>
          </a:xfrm>
        </p:grpSpPr>
        <p:sp>
          <p:nvSpPr>
            <p:cNvPr id="14" name="Freeform 14"/>
            <p:cNvSpPr/>
            <p:nvPr/>
          </p:nvSpPr>
          <p:spPr>
            <a:xfrm>
              <a:off x="0" y="0"/>
              <a:ext cx="1924993" cy="197021"/>
            </a:xfrm>
            <a:custGeom>
              <a:avLst/>
              <a:gdLst/>
              <a:ahLst/>
              <a:cxnLst/>
              <a:rect l="l" t="t" r="r" b="b"/>
              <a:pathLst>
                <a:path w="1924993" h="197021">
                  <a:moveTo>
                    <a:pt x="69910" y="0"/>
                  </a:moveTo>
                  <a:lnTo>
                    <a:pt x="1855083" y="0"/>
                  </a:lnTo>
                  <a:cubicBezTo>
                    <a:pt x="1873625" y="0"/>
                    <a:pt x="1891406" y="7365"/>
                    <a:pt x="1904517" y="20476"/>
                  </a:cubicBezTo>
                  <a:cubicBezTo>
                    <a:pt x="1917628" y="33587"/>
                    <a:pt x="1924993" y="51368"/>
                    <a:pt x="1924993" y="69910"/>
                  </a:cubicBezTo>
                  <a:lnTo>
                    <a:pt x="1924993" y="127111"/>
                  </a:lnTo>
                  <a:cubicBezTo>
                    <a:pt x="1924993" y="165721"/>
                    <a:pt x="1893693" y="197021"/>
                    <a:pt x="1855083" y="197021"/>
                  </a:cubicBezTo>
                  <a:lnTo>
                    <a:pt x="69910" y="197021"/>
                  </a:lnTo>
                  <a:cubicBezTo>
                    <a:pt x="51368" y="197021"/>
                    <a:pt x="33587" y="189655"/>
                    <a:pt x="20476" y="176545"/>
                  </a:cubicBezTo>
                  <a:cubicBezTo>
                    <a:pt x="7365" y="163434"/>
                    <a:pt x="0" y="145652"/>
                    <a:pt x="0" y="127111"/>
                  </a:cubicBezTo>
                  <a:lnTo>
                    <a:pt x="0" y="69910"/>
                  </a:lnTo>
                  <a:cubicBezTo>
                    <a:pt x="0" y="51368"/>
                    <a:pt x="7365" y="33587"/>
                    <a:pt x="20476" y="20476"/>
                  </a:cubicBezTo>
                  <a:cubicBezTo>
                    <a:pt x="33587" y="7365"/>
                    <a:pt x="51368" y="0"/>
                    <a:pt x="69910" y="0"/>
                  </a:cubicBezTo>
                  <a:close/>
                </a:path>
              </a:pathLst>
            </a:custGeom>
            <a:ln w="19050" cap="rnd">
              <a:solidFill>
                <a:srgbClr val="F8F8F8"/>
              </a:solidFill>
              <a:prstDash val="solid"/>
              <a:round/>
            </a:ln>
          </p:spPr>
        </p:sp>
        <p:sp>
          <p:nvSpPr>
            <p:cNvPr id="15" name="TextBox 15"/>
            <p:cNvSpPr txBox="1"/>
            <p:nvPr/>
          </p:nvSpPr>
          <p:spPr>
            <a:xfrm>
              <a:off x="0" y="-28575"/>
              <a:ext cx="1924993" cy="225596"/>
            </a:xfrm>
            <a:prstGeom prst="rect">
              <a:avLst/>
            </a:prstGeom>
          </p:spPr>
          <p:txBody>
            <a:bodyPr lIns="50800" tIns="50800" rIns="50800" bIns="50800" rtlCol="0" anchor="ctr"/>
            <a:lstStyle/>
            <a:p>
              <a:pPr algn="ctr">
                <a:lnSpc>
                  <a:spcPts val="2015"/>
                </a:lnSpc>
              </a:pPr>
              <a:endParaRPr/>
            </a:p>
          </p:txBody>
        </p:sp>
      </p:grpSp>
      <p:sp>
        <p:nvSpPr>
          <p:cNvPr id="16" name="TextBox 16"/>
          <p:cNvSpPr txBox="1"/>
          <p:nvPr/>
        </p:nvSpPr>
        <p:spPr>
          <a:xfrm>
            <a:off x="890261" y="8703716"/>
            <a:ext cx="7006162" cy="372745"/>
          </a:xfrm>
          <a:prstGeom prst="rect">
            <a:avLst/>
          </a:prstGeom>
        </p:spPr>
        <p:txBody>
          <a:bodyPr lIns="0" tIns="0" rIns="0" bIns="0" rtlCol="0" anchor="t">
            <a:spAutoFit/>
          </a:bodyPr>
          <a:lstStyle/>
          <a:p>
            <a:pPr algn="ctr">
              <a:lnSpc>
                <a:spcPts val="3079"/>
              </a:lnSpc>
            </a:pPr>
            <a:r>
              <a:rPr lang="en-US" sz="2199" b="1" spc="-103">
                <a:solidFill>
                  <a:srgbClr val="F8F8F8"/>
                </a:solidFill>
                <a:latin typeface="Inter Bold"/>
                <a:ea typeface="Inter Bold"/>
                <a:cs typeface="Inter Bold"/>
                <a:sym typeface="Inter Bold"/>
              </a:rPr>
              <a:t>Optimized trainer_opt.py for GPU resource management.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3033153" y="1028700"/>
            <a:ext cx="2744722" cy="622420"/>
            <a:chOff x="0" y="0"/>
            <a:chExt cx="722890" cy="163930"/>
          </a:xfrm>
        </p:grpSpPr>
        <p:sp>
          <p:nvSpPr>
            <p:cNvPr id="3" name="Freeform 3"/>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4" name="TextBox 4"/>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53566" y="1006181"/>
            <a:ext cx="644940" cy="644940"/>
          </a:xfrm>
          <a:custGeom>
            <a:avLst/>
            <a:gdLst/>
            <a:ahLst/>
            <a:cxnLst/>
            <a:rect l="l" t="t" r="r" b="b"/>
            <a:pathLst>
              <a:path w="644940" h="644940">
                <a:moveTo>
                  <a:pt x="0" y="0"/>
                </a:moveTo>
                <a:lnTo>
                  <a:pt x="644939" y="0"/>
                </a:lnTo>
                <a:lnTo>
                  <a:pt x="644939" y="644939"/>
                </a:lnTo>
                <a:lnTo>
                  <a:pt x="0" y="6449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3363317" y="1028700"/>
            <a:ext cx="2744722" cy="622420"/>
            <a:chOff x="0" y="0"/>
            <a:chExt cx="722890" cy="163930"/>
          </a:xfrm>
        </p:grpSpPr>
        <p:sp>
          <p:nvSpPr>
            <p:cNvPr id="7" name="Freeform 7"/>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8" name="TextBox 8"/>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6509483" y="1006181"/>
            <a:ext cx="644940" cy="64494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000000"/>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rot="4020703">
            <a:off x="16709355" y="1206053"/>
            <a:ext cx="245195" cy="245195"/>
          </a:xfrm>
          <a:custGeom>
            <a:avLst/>
            <a:gdLst/>
            <a:ahLst/>
            <a:cxnLst/>
            <a:rect l="l" t="t" r="r" b="b"/>
            <a:pathLst>
              <a:path w="245195" h="245195">
                <a:moveTo>
                  <a:pt x="0" y="0"/>
                </a:moveTo>
                <a:lnTo>
                  <a:pt x="245195" y="0"/>
                </a:lnTo>
                <a:lnTo>
                  <a:pt x="245195" y="245195"/>
                </a:lnTo>
                <a:lnTo>
                  <a:pt x="0" y="2451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p:cNvSpPr/>
          <p:nvPr/>
        </p:nvSpPr>
        <p:spPr>
          <a:xfrm>
            <a:off x="0" y="1926099"/>
            <a:ext cx="5277492" cy="4316044"/>
          </a:xfrm>
          <a:custGeom>
            <a:avLst/>
            <a:gdLst/>
            <a:ahLst/>
            <a:cxnLst/>
            <a:rect l="l" t="t" r="r" b="b"/>
            <a:pathLst>
              <a:path w="5277492" h="4316044">
                <a:moveTo>
                  <a:pt x="0" y="0"/>
                </a:moveTo>
                <a:lnTo>
                  <a:pt x="5277492" y="0"/>
                </a:lnTo>
                <a:lnTo>
                  <a:pt x="5277492" y="4316044"/>
                </a:lnTo>
                <a:lnTo>
                  <a:pt x="0" y="4316044"/>
                </a:lnTo>
                <a:lnTo>
                  <a:pt x="0" y="0"/>
                </a:lnTo>
                <a:close/>
              </a:path>
            </a:pathLst>
          </a:custGeom>
          <a:blipFill>
            <a:blip r:embed="rId6"/>
            <a:stretch>
              <a:fillRect b="-4546"/>
            </a:stretch>
          </a:blipFill>
        </p:spPr>
      </p:sp>
      <p:sp>
        <p:nvSpPr>
          <p:cNvPr id="14" name="Freeform 14"/>
          <p:cNvSpPr/>
          <p:nvPr/>
        </p:nvSpPr>
        <p:spPr>
          <a:xfrm>
            <a:off x="4949220" y="1790344"/>
            <a:ext cx="4542442" cy="4587553"/>
          </a:xfrm>
          <a:custGeom>
            <a:avLst/>
            <a:gdLst/>
            <a:ahLst/>
            <a:cxnLst/>
            <a:rect l="l" t="t" r="r" b="b"/>
            <a:pathLst>
              <a:path w="4542442" h="4587553">
                <a:moveTo>
                  <a:pt x="0" y="0"/>
                </a:moveTo>
                <a:lnTo>
                  <a:pt x="4542442" y="0"/>
                </a:lnTo>
                <a:lnTo>
                  <a:pt x="4542442" y="4587553"/>
                </a:lnTo>
                <a:lnTo>
                  <a:pt x="0" y="4587553"/>
                </a:lnTo>
                <a:lnTo>
                  <a:pt x="0" y="0"/>
                </a:lnTo>
                <a:close/>
              </a:path>
            </a:pathLst>
          </a:custGeom>
          <a:blipFill>
            <a:blip r:embed="rId7"/>
            <a:stretch>
              <a:fillRect l="-3582"/>
            </a:stretch>
          </a:blipFill>
        </p:spPr>
      </p:sp>
      <p:sp>
        <p:nvSpPr>
          <p:cNvPr id="15" name="Freeform 15"/>
          <p:cNvSpPr/>
          <p:nvPr/>
        </p:nvSpPr>
        <p:spPr>
          <a:xfrm>
            <a:off x="9343103" y="1960900"/>
            <a:ext cx="4735314" cy="4281242"/>
          </a:xfrm>
          <a:custGeom>
            <a:avLst/>
            <a:gdLst/>
            <a:ahLst/>
            <a:cxnLst/>
            <a:rect l="l" t="t" r="r" b="b"/>
            <a:pathLst>
              <a:path w="4735314" h="4281242">
                <a:moveTo>
                  <a:pt x="0" y="0"/>
                </a:moveTo>
                <a:lnTo>
                  <a:pt x="4735314" y="0"/>
                </a:lnTo>
                <a:lnTo>
                  <a:pt x="4735314" y="4281243"/>
                </a:lnTo>
                <a:lnTo>
                  <a:pt x="0" y="4281243"/>
                </a:lnTo>
                <a:lnTo>
                  <a:pt x="0" y="0"/>
                </a:lnTo>
                <a:close/>
              </a:path>
            </a:pathLst>
          </a:custGeom>
          <a:blipFill>
            <a:blip r:embed="rId8"/>
            <a:stretch>
              <a:fillRect/>
            </a:stretch>
          </a:blipFill>
        </p:spPr>
      </p:sp>
      <p:sp>
        <p:nvSpPr>
          <p:cNvPr id="16" name="Freeform 16"/>
          <p:cNvSpPr/>
          <p:nvPr/>
        </p:nvSpPr>
        <p:spPr>
          <a:xfrm>
            <a:off x="13910556" y="1960900"/>
            <a:ext cx="3243867" cy="4555778"/>
          </a:xfrm>
          <a:custGeom>
            <a:avLst/>
            <a:gdLst/>
            <a:ahLst/>
            <a:cxnLst/>
            <a:rect l="l" t="t" r="r" b="b"/>
            <a:pathLst>
              <a:path w="3243867" h="4555778">
                <a:moveTo>
                  <a:pt x="0" y="0"/>
                </a:moveTo>
                <a:lnTo>
                  <a:pt x="3243867" y="0"/>
                </a:lnTo>
                <a:lnTo>
                  <a:pt x="3243867" y="4555778"/>
                </a:lnTo>
                <a:lnTo>
                  <a:pt x="0" y="4555778"/>
                </a:lnTo>
                <a:lnTo>
                  <a:pt x="0" y="0"/>
                </a:lnTo>
                <a:close/>
              </a:path>
            </a:pathLst>
          </a:custGeom>
          <a:blipFill>
            <a:blip r:embed="rId9"/>
            <a:stretch>
              <a:fillRect r="-3233"/>
            </a:stretch>
          </a:blipFill>
        </p:spPr>
      </p:sp>
      <p:sp>
        <p:nvSpPr>
          <p:cNvPr id="17" name="TextBox 17"/>
          <p:cNvSpPr txBox="1"/>
          <p:nvPr/>
        </p:nvSpPr>
        <p:spPr>
          <a:xfrm>
            <a:off x="1675526" y="1129388"/>
            <a:ext cx="1720589" cy="405765"/>
          </a:xfrm>
          <a:prstGeom prst="rect">
            <a:avLst/>
          </a:prstGeom>
        </p:spPr>
        <p:txBody>
          <a:bodyPr lIns="0" tIns="0" rIns="0" bIns="0" rtlCol="0" anchor="t">
            <a:spAutoFit/>
          </a:bodyPr>
          <a:lstStyle/>
          <a:p>
            <a:pPr algn="l">
              <a:lnSpc>
                <a:spcPts val="3359"/>
              </a:lnSpc>
            </a:pPr>
            <a:r>
              <a:rPr lang="en-US" sz="2400" spc="-112">
                <a:solidFill>
                  <a:srgbClr val="424242"/>
                </a:solidFill>
                <a:latin typeface="Inter"/>
                <a:ea typeface="Inter"/>
                <a:cs typeface="Inter"/>
                <a:sym typeface="Inter"/>
              </a:rPr>
              <a:t>FCAI</a:t>
            </a:r>
          </a:p>
        </p:txBody>
      </p:sp>
      <p:sp>
        <p:nvSpPr>
          <p:cNvPr id="18" name="TextBox 18"/>
          <p:cNvSpPr txBox="1"/>
          <p:nvPr/>
        </p:nvSpPr>
        <p:spPr>
          <a:xfrm>
            <a:off x="3203842"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Presentation</a:t>
            </a:r>
          </a:p>
        </p:txBody>
      </p:sp>
      <p:sp>
        <p:nvSpPr>
          <p:cNvPr id="19" name="TextBox 19"/>
          <p:cNvSpPr txBox="1"/>
          <p:nvPr/>
        </p:nvSpPr>
        <p:spPr>
          <a:xfrm>
            <a:off x="13534006"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June 11, 2026</a:t>
            </a:r>
          </a:p>
        </p:txBody>
      </p:sp>
      <p:sp>
        <p:nvSpPr>
          <p:cNvPr id="20" name="TextBox 20"/>
          <p:cNvSpPr txBox="1"/>
          <p:nvPr/>
        </p:nvSpPr>
        <p:spPr>
          <a:xfrm>
            <a:off x="15008109" y="3466265"/>
            <a:ext cx="1594243" cy="311150"/>
          </a:xfrm>
          <a:prstGeom prst="rect">
            <a:avLst/>
          </a:prstGeom>
        </p:spPr>
        <p:txBody>
          <a:bodyPr lIns="0" tIns="0" rIns="0" bIns="0" rtlCol="0" anchor="t">
            <a:spAutoFit/>
          </a:bodyPr>
          <a:lstStyle/>
          <a:p>
            <a:pPr algn="ctr">
              <a:lnSpc>
                <a:spcPts val="2350"/>
              </a:lnSpc>
            </a:pPr>
            <a:r>
              <a:rPr lang="en-US" sz="2500" spc="-117">
                <a:solidFill>
                  <a:srgbClr val="F8F8F8"/>
                </a:solidFill>
                <a:latin typeface="Inter"/>
                <a:ea typeface="Inter"/>
                <a:cs typeface="Inter"/>
                <a:sym typeface="Inter"/>
              </a:rPr>
              <a:t>Present</a:t>
            </a:r>
          </a:p>
        </p:txBody>
      </p:sp>
      <p:sp>
        <p:nvSpPr>
          <p:cNvPr id="21" name="TextBox 21"/>
          <p:cNvSpPr txBox="1"/>
          <p:nvPr/>
        </p:nvSpPr>
        <p:spPr>
          <a:xfrm>
            <a:off x="1029991" y="7489918"/>
            <a:ext cx="15479492" cy="1475109"/>
          </a:xfrm>
          <a:prstGeom prst="rect">
            <a:avLst/>
          </a:prstGeom>
        </p:spPr>
        <p:txBody>
          <a:bodyPr lIns="0" tIns="0" rIns="0" bIns="0" rtlCol="0" anchor="t">
            <a:spAutoFit/>
          </a:bodyPr>
          <a:lstStyle/>
          <a:p>
            <a:pPr algn="l">
              <a:lnSpc>
                <a:spcPts val="10810"/>
              </a:lnSpc>
            </a:pPr>
            <a:r>
              <a:rPr lang="en-US" sz="11500" spc="-540">
                <a:solidFill>
                  <a:srgbClr val="000000"/>
                </a:solidFill>
                <a:latin typeface="Inter"/>
                <a:ea typeface="Inter"/>
                <a:cs typeface="Inter"/>
                <a:sym typeface="Inter"/>
              </a:rPr>
              <a:t>Evaluation &amp; Robustness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3033153" y="1028700"/>
            <a:ext cx="2744722" cy="622420"/>
            <a:chOff x="0" y="0"/>
            <a:chExt cx="722890" cy="163930"/>
          </a:xfrm>
        </p:grpSpPr>
        <p:sp>
          <p:nvSpPr>
            <p:cNvPr id="3" name="Freeform 3"/>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4" name="TextBox 4"/>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53566" y="1006181"/>
            <a:ext cx="644940" cy="644940"/>
          </a:xfrm>
          <a:custGeom>
            <a:avLst/>
            <a:gdLst/>
            <a:ahLst/>
            <a:cxnLst/>
            <a:rect l="l" t="t" r="r" b="b"/>
            <a:pathLst>
              <a:path w="644940" h="644940">
                <a:moveTo>
                  <a:pt x="0" y="0"/>
                </a:moveTo>
                <a:lnTo>
                  <a:pt x="644939" y="0"/>
                </a:lnTo>
                <a:lnTo>
                  <a:pt x="644939" y="644939"/>
                </a:lnTo>
                <a:lnTo>
                  <a:pt x="0" y="64493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3363317" y="1028700"/>
            <a:ext cx="2744722" cy="622420"/>
            <a:chOff x="0" y="0"/>
            <a:chExt cx="722890" cy="163930"/>
          </a:xfrm>
        </p:grpSpPr>
        <p:sp>
          <p:nvSpPr>
            <p:cNvPr id="7" name="Freeform 7"/>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8" name="TextBox 8"/>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6509483" y="1006181"/>
            <a:ext cx="644940" cy="64494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000000"/>
              </a:solidFill>
              <a:prstDash val="solid"/>
              <a:miter/>
            </a:ln>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rot="4020703">
            <a:off x="16709355" y="1206053"/>
            <a:ext cx="245195" cy="245195"/>
          </a:xfrm>
          <a:custGeom>
            <a:avLst/>
            <a:gdLst/>
            <a:ahLst/>
            <a:cxnLst/>
            <a:rect l="l" t="t" r="r" b="b"/>
            <a:pathLst>
              <a:path w="245195" h="245195">
                <a:moveTo>
                  <a:pt x="0" y="0"/>
                </a:moveTo>
                <a:lnTo>
                  <a:pt x="245195" y="0"/>
                </a:lnTo>
                <a:lnTo>
                  <a:pt x="245195" y="245195"/>
                </a:lnTo>
                <a:lnTo>
                  <a:pt x="0" y="2451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13" name="Group 13"/>
          <p:cNvGrpSpPr/>
          <p:nvPr/>
        </p:nvGrpSpPr>
        <p:grpSpPr>
          <a:xfrm>
            <a:off x="1276036" y="3878420"/>
            <a:ext cx="3564331" cy="1848143"/>
            <a:chOff x="0" y="0"/>
            <a:chExt cx="938754" cy="486754"/>
          </a:xfrm>
        </p:grpSpPr>
        <p:sp>
          <p:nvSpPr>
            <p:cNvPr id="14" name="Freeform 14"/>
            <p:cNvSpPr/>
            <p:nvPr/>
          </p:nvSpPr>
          <p:spPr>
            <a:xfrm>
              <a:off x="0" y="0"/>
              <a:ext cx="938754" cy="486754"/>
            </a:xfrm>
            <a:custGeom>
              <a:avLst/>
              <a:gdLst/>
              <a:ahLst/>
              <a:cxnLst/>
              <a:rect l="l" t="t" r="r" b="b"/>
              <a:pathLst>
                <a:path w="938754" h="486754">
                  <a:moveTo>
                    <a:pt x="110775" y="0"/>
                  </a:moveTo>
                  <a:lnTo>
                    <a:pt x="827979" y="0"/>
                  </a:lnTo>
                  <a:cubicBezTo>
                    <a:pt x="857359" y="0"/>
                    <a:pt x="885535" y="11671"/>
                    <a:pt x="906309" y="32445"/>
                  </a:cubicBezTo>
                  <a:cubicBezTo>
                    <a:pt x="927083" y="53219"/>
                    <a:pt x="938754" y="81395"/>
                    <a:pt x="938754" y="110775"/>
                  </a:cubicBezTo>
                  <a:lnTo>
                    <a:pt x="938754" y="375979"/>
                  </a:lnTo>
                  <a:cubicBezTo>
                    <a:pt x="938754" y="405358"/>
                    <a:pt x="927083" y="433534"/>
                    <a:pt x="906309" y="454308"/>
                  </a:cubicBezTo>
                  <a:cubicBezTo>
                    <a:pt x="885535" y="475083"/>
                    <a:pt x="857359" y="486754"/>
                    <a:pt x="827979" y="486754"/>
                  </a:cubicBezTo>
                  <a:lnTo>
                    <a:pt x="110775" y="486754"/>
                  </a:lnTo>
                  <a:cubicBezTo>
                    <a:pt x="81395" y="486754"/>
                    <a:pt x="53219" y="475083"/>
                    <a:pt x="32445" y="454308"/>
                  </a:cubicBezTo>
                  <a:cubicBezTo>
                    <a:pt x="11671" y="433534"/>
                    <a:pt x="0" y="405358"/>
                    <a:pt x="0" y="375979"/>
                  </a:cubicBezTo>
                  <a:lnTo>
                    <a:pt x="0" y="110775"/>
                  </a:lnTo>
                  <a:cubicBezTo>
                    <a:pt x="0" y="81395"/>
                    <a:pt x="11671" y="53219"/>
                    <a:pt x="32445" y="32445"/>
                  </a:cubicBezTo>
                  <a:cubicBezTo>
                    <a:pt x="53219" y="11671"/>
                    <a:pt x="81395" y="0"/>
                    <a:pt x="110775" y="0"/>
                  </a:cubicBezTo>
                  <a:close/>
                </a:path>
              </a:pathLst>
            </a:custGeom>
            <a:ln w="19050" cap="rnd">
              <a:solidFill>
                <a:srgbClr val="000000"/>
              </a:solidFill>
              <a:prstDash val="solid"/>
              <a:round/>
            </a:ln>
          </p:spPr>
        </p:sp>
        <p:sp>
          <p:nvSpPr>
            <p:cNvPr id="15" name="TextBox 15"/>
            <p:cNvSpPr txBox="1"/>
            <p:nvPr/>
          </p:nvSpPr>
          <p:spPr>
            <a:xfrm>
              <a:off x="0" y="-38100"/>
              <a:ext cx="938754" cy="524854"/>
            </a:xfrm>
            <a:prstGeom prst="rect">
              <a:avLst/>
            </a:prstGeom>
          </p:spPr>
          <p:txBody>
            <a:bodyPr lIns="50800" tIns="50800" rIns="50800" bIns="50800" rtlCol="0" anchor="ctr"/>
            <a:lstStyle/>
            <a:p>
              <a:pPr algn="ctr">
                <a:lnSpc>
                  <a:spcPts val="2940"/>
                </a:lnSpc>
              </a:pPr>
              <a:endParaRPr/>
            </a:p>
          </p:txBody>
        </p:sp>
      </p:grpSp>
      <p:grpSp>
        <p:nvGrpSpPr>
          <p:cNvPr id="16" name="Group 16"/>
          <p:cNvGrpSpPr/>
          <p:nvPr/>
        </p:nvGrpSpPr>
        <p:grpSpPr>
          <a:xfrm>
            <a:off x="5553040" y="3878420"/>
            <a:ext cx="3564331" cy="1848143"/>
            <a:chOff x="0" y="0"/>
            <a:chExt cx="938754" cy="486754"/>
          </a:xfrm>
        </p:grpSpPr>
        <p:sp>
          <p:nvSpPr>
            <p:cNvPr id="17" name="Freeform 17"/>
            <p:cNvSpPr/>
            <p:nvPr/>
          </p:nvSpPr>
          <p:spPr>
            <a:xfrm>
              <a:off x="0" y="0"/>
              <a:ext cx="938754" cy="486754"/>
            </a:xfrm>
            <a:custGeom>
              <a:avLst/>
              <a:gdLst/>
              <a:ahLst/>
              <a:cxnLst/>
              <a:rect l="l" t="t" r="r" b="b"/>
              <a:pathLst>
                <a:path w="938754" h="486754">
                  <a:moveTo>
                    <a:pt x="110775" y="0"/>
                  </a:moveTo>
                  <a:lnTo>
                    <a:pt x="827979" y="0"/>
                  </a:lnTo>
                  <a:cubicBezTo>
                    <a:pt x="857359" y="0"/>
                    <a:pt x="885535" y="11671"/>
                    <a:pt x="906309" y="32445"/>
                  </a:cubicBezTo>
                  <a:cubicBezTo>
                    <a:pt x="927083" y="53219"/>
                    <a:pt x="938754" y="81395"/>
                    <a:pt x="938754" y="110775"/>
                  </a:cubicBezTo>
                  <a:lnTo>
                    <a:pt x="938754" y="375979"/>
                  </a:lnTo>
                  <a:cubicBezTo>
                    <a:pt x="938754" y="405358"/>
                    <a:pt x="927083" y="433534"/>
                    <a:pt x="906309" y="454308"/>
                  </a:cubicBezTo>
                  <a:cubicBezTo>
                    <a:pt x="885535" y="475083"/>
                    <a:pt x="857359" y="486754"/>
                    <a:pt x="827979" y="486754"/>
                  </a:cubicBezTo>
                  <a:lnTo>
                    <a:pt x="110775" y="486754"/>
                  </a:lnTo>
                  <a:cubicBezTo>
                    <a:pt x="81395" y="486754"/>
                    <a:pt x="53219" y="475083"/>
                    <a:pt x="32445" y="454308"/>
                  </a:cubicBezTo>
                  <a:cubicBezTo>
                    <a:pt x="11671" y="433534"/>
                    <a:pt x="0" y="405358"/>
                    <a:pt x="0" y="375979"/>
                  </a:cubicBezTo>
                  <a:lnTo>
                    <a:pt x="0" y="110775"/>
                  </a:lnTo>
                  <a:cubicBezTo>
                    <a:pt x="0" y="81395"/>
                    <a:pt x="11671" y="53219"/>
                    <a:pt x="32445" y="32445"/>
                  </a:cubicBezTo>
                  <a:cubicBezTo>
                    <a:pt x="53219" y="11671"/>
                    <a:pt x="81395" y="0"/>
                    <a:pt x="110775" y="0"/>
                  </a:cubicBezTo>
                  <a:close/>
                </a:path>
              </a:pathLst>
            </a:custGeom>
            <a:ln w="19050" cap="rnd">
              <a:solidFill>
                <a:srgbClr val="000000"/>
              </a:solidFill>
              <a:prstDash val="solid"/>
              <a:round/>
            </a:ln>
          </p:spPr>
        </p:sp>
        <p:sp>
          <p:nvSpPr>
            <p:cNvPr id="18" name="TextBox 18"/>
            <p:cNvSpPr txBox="1"/>
            <p:nvPr/>
          </p:nvSpPr>
          <p:spPr>
            <a:xfrm>
              <a:off x="0" y="-38100"/>
              <a:ext cx="938754" cy="524854"/>
            </a:xfrm>
            <a:prstGeom prst="rect">
              <a:avLst/>
            </a:prstGeom>
          </p:spPr>
          <p:txBody>
            <a:bodyPr lIns="50800" tIns="50800" rIns="50800" bIns="50800" rtlCol="0" anchor="ctr"/>
            <a:lstStyle/>
            <a:p>
              <a:pPr algn="ctr">
                <a:lnSpc>
                  <a:spcPts val="2940"/>
                </a:lnSpc>
              </a:pPr>
              <a:endParaRPr/>
            </a:p>
          </p:txBody>
        </p:sp>
      </p:grpSp>
      <p:grpSp>
        <p:nvGrpSpPr>
          <p:cNvPr id="19" name="Group 19"/>
          <p:cNvGrpSpPr/>
          <p:nvPr/>
        </p:nvGrpSpPr>
        <p:grpSpPr>
          <a:xfrm>
            <a:off x="9736023" y="3878420"/>
            <a:ext cx="3564331" cy="1848143"/>
            <a:chOff x="0" y="0"/>
            <a:chExt cx="938754" cy="486754"/>
          </a:xfrm>
        </p:grpSpPr>
        <p:sp>
          <p:nvSpPr>
            <p:cNvPr id="20" name="Freeform 20"/>
            <p:cNvSpPr/>
            <p:nvPr/>
          </p:nvSpPr>
          <p:spPr>
            <a:xfrm>
              <a:off x="0" y="0"/>
              <a:ext cx="938754" cy="486754"/>
            </a:xfrm>
            <a:custGeom>
              <a:avLst/>
              <a:gdLst/>
              <a:ahLst/>
              <a:cxnLst/>
              <a:rect l="l" t="t" r="r" b="b"/>
              <a:pathLst>
                <a:path w="938754" h="486754">
                  <a:moveTo>
                    <a:pt x="110775" y="0"/>
                  </a:moveTo>
                  <a:lnTo>
                    <a:pt x="827979" y="0"/>
                  </a:lnTo>
                  <a:cubicBezTo>
                    <a:pt x="857359" y="0"/>
                    <a:pt x="885535" y="11671"/>
                    <a:pt x="906309" y="32445"/>
                  </a:cubicBezTo>
                  <a:cubicBezTo>
                    <a:pt x="927083" y="53219"/>
                    <a:pt x="938754" y="81395"/>
                    <a:pt x="938754" y="110775"/>
                  </a:cubicBezTo>
                  <a:lnTo>
                    <a:pt x="938754" y="375979"/>
                  </a:lnTo>
                  <a:cubicBezTo>
                    <a:pt x="938754" y="405358"/>
                    <a:pt x="927083" y="433534"/>
                    <a:pt x="906309" y="454308"/>
                  </a:cubicBezTo>
                  <a:cubicBezTo>
                    <a:pt x="885535" y="475083"/>
                    <a:pt x="857359" y="486754"/>
                    <a:pt x="827979" y="486754"/>
                  </a:cubicBezTo>
                  <a:lnTo>
                    <a:pt x="110775" y="486754"/>
                  </a:lnTo>
                  <a:cubicBezTo>
                    <a:pt x="81395" y="486754"/>
                    <a:pt x="53219" y="475083"/>
                    <a:pt x="32445" y="454308"/>
                  </a:cubicBezTo>
                  <a:cubicBezTo>
                    <a:pt x="11671" y="433534"/>
                    <a:pt x="0" y="405358"/>
                    <a:pt x="0" y="375979"/>
                  </a:cubicBezTo>
                  <a:lnTo>
                    <a:pt x="0" y="110775"/>
                  </a:lnTo>
                  <a:cubicBezTo>
                    <a:pt x="0" y="81395"/>
                    <a:pt x="11671" y="53219"/>
                    <a:pt x="32445" y="32445"/>
                  </a:cubicBezTo>
                  <a:cubicBezTo>
                    <a:pt x="53219" y="11671"/>
                    <a:pt x="81395" y="0"/>
                    <a:pt x="110775" y="0"/>
                  </a:cubicBezTo>
                  <a:close/>
                </a:path>
              </a:pathLst>
            </a:custGeom>
            <a:ln w="19050" cap="rnd">
              <a:solidFill>
                <a:srgbClr val="000000"/>
              </a:solidFill>
              <a:prstDash val="solid"/>
              <a:round/>
            </a:ln>
          </p:spPr>
        </p:sp>
        <p:sp>
          <p:nvSpPr>
            <p:cNvPr id="21" name="TextBox 21"/>
            <p:cNvSpPr txBox="1"/>
            <p:nvPr/>
          </p:nvSpPr>
          <p:spPr>
            <a:xfrm>
              <a:off x="0" y="-38100"/>
              <a:ext cx="938754" cy="524854"/>
            </a:xfrm>
            <a:prstGeom prst="rect">
              <a:avLst/>
            </a:prstGeom>
          </p:spPr>
          <p:txBody>
            <a:bodyPr lIns="50800" tIns="50800" rIns="50800" bIns="50800" rtlCol="0" anchor="ctr"/>
            <a:lstStyle/>
            <a:p>
              <a:pPr algn="ctr">
                <a:lnSpc>
                  <a:spcPts val="2940"/>
                </a:lnSpc>
              </a:pPr>
              <a:endParaRPr/>
            </a:p>
          </p:txBody>
        </p:sp>
      </p:grpSp>
      <p:sp>
        <p:nvSpPr>
          <p:cNvPr id="22" name="TextBox 22"/>
          <p:cNvSpPr txBox="1"/>
          <p:nvPr/>
        </p:nvSpPr>
        <p:spPr>
          <a:xfrm>
            <a:off x="1675526" y="1129388"/>
            <a:ext cx="1720589" cy="405765"/>
          </a:xfrm>
          <a:prstGeom prst="rect">
            <a:avLst/>
          </a:prstGeom>
        </p:spPr>
        <p:txBody>
          <a:bodyPr lIns="0" tIns="0" rIns="0" bIns="0" rtlCol="0" anchor="t">
            <a:spAutoFit/>
          </a:bodyPr>
          <a:lstStyle/>
          <a:p>
            <a:pPr algn="l">
              <a:lnSpc>
                <a:spcPts val="3359"/>
              </a:lnSpc>
            </a:pPr>
            <a:r>
              <a:rPr lang="en-US" sz="2400" spc="-112">
                <a:solidFill>
                  <a:srgbClr val="424242"/>
                </a:solidFill>
                <a:latin typeface="Inter"/>
                <a:ea typeface="Inter"/>
                <a:cs typeface="Inter"/>
                <a:sym typeface="Inter"/>
              </a:rPr>
              <a:t>FCAI</a:t>
            </a:r>
          </a:p>
        </p:txBody>
      </p:sp>
      <p:sp>
        <p:nvSpPr>
          <p:cNvPr id="23" name="TextBox 23"/>
          <p:cNvSpPr txBox="1"/>
          <p:nvPr/>
        </p:nvSpPr>
        <p:spPr>
          <a:xfrm>
            <a:off x="3203842"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Presentation</a:t>
            </a:r>
          </a:p>
        </p:txBody>
      </p:sp>
      <p:sp>
        <p:nvSpPr>
          <p:cNvPr id="24" name="TextBox 24"/>
          <p:cNvSpPr txBox="1"/>
          <p:nvPr/>
        </p:nvSpPr>
        <p:spPr>
          <a:xfrm>
            <a:off x="13534006"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May 14, 2026</a:t>
            </a:r>
          </a:p>
        </p:txBody>
      </p:sp>
      <p:sp>
        <p:nvSpPr>
          <p:cNvPr id="25" name="TextBox 25"/>
          <p:cNvSpPr txBox="1"/>
          <p:nvPr/>
        </p:nvSpPr>
        <p:spPr>
          <a:xfrm>
            <a:off x="1029991" y="2266028"/>
            <a:ext cx="15479492" cy="1212342"/>
          </a:xfrm>
          <a:prstGeom prst="rect">
            <a:avLst/>
          </a:prstGeom>
        </p:spPr>
        <p:txBody>
          <a:bodyPr lIns="0" tIns="0" rIns="0" bIns="0" rtlCol="0" anchor="t">
            <a:spAutoFit/>
          </a:bodyPr>
          <a:lstStyle/>
          <a:p>
            <a:pPr algn="l">
              <a:lnSpc>
                <a:spcPts val="9024"/>
              </a:lnSpc>
            </a:pPr>
            <a:r>
              <a:rPr lang="en-US" sz="9600" spc="-451">
                <a:solidFill>
                  <a:srgbClr val="000000"/>
                </a:solidFill>
                <a:latin typeface="Inter"/>
                <a:ea typeface="Inter"/>
                <a:cs typeface="Inter"/>
                <a:sym typeface="Inter"/>
              </a:rPr>
              <a:t>Meet Our Team</a:t>
            </a:r>
          </a:p>
        </p:txBody>
      </p:sp>
      <p:sp>
        <p:nvSpPr>
          <p:cNvPr id="26" name="TextBox 26"/>
          <p:cNvSpPr txBox="1"/>
          <p:nvPr/>
        </p:nvSpPr>
        <p:spPr>
          <a:xfrm>
            <a:off x="1520754" y="4260115"/>
            <a:ext cx="4279936" cy="405765"/>
          </a:xfrm>
          <a:prstGeom prst="rect">
            <a:avLst/>
          </a:prstGeom>
        </p:spPr>
        <p:txBody>
          <a:bodyPr lIns="0" tIns="0" rIns="0" bIns="0" rtlCol="0" anchor="t">
            <a:spAutoFit/>
          </a:bodyPr>
          <a:lstStyle/>
          <a:p>
            <a:pPr algn="l">
              <a:lnSpc>
                <a:spcPts val="3359"/>
              </a:lnSpc>
            </a:pPr>
            <a:r>
              <a:rPr lang="en-US" sz="2400" b="1">
                <a:solidFill>
                  <a:srgbClr val="101010"/>
                </a:solidFill>
                <a:latin typeface="Inter Bold"/>
                <a:ea typeface="Inter Bold"/>
                <a:cs typeface="Inter Bold"/>
                <a:sym typeface="Inter Bold"/>
              </a:rPr>
              <a:t>Mohamed Elkady</a:t>
            </a:r>
          </a:p>
        </p:txBody>
      </p:sp>
      <p:sp>
        <p:nvSpPr>
          <p:cNvPr id="27" name="TextBox 27"/>
          <p:cNvSpPr txBox="1"/>
          <p:nvPr/>
        </p:nvSpPr>
        <p:spPr>
          <a:xfrm>
            <a:off x="5894238" y="4260115"/>
            <a:ext cx="4279936" cy="405765"/>
          </a:xfrm>
          <a:prstGeom prst="rect">
            <a:avLst/>
          </a:prstGeom>
        </p:spPr>
        <p:txBody>
          <a:bodyPr lIns="0" tIns="0" rIns="0" bIns="0" rtlCol="0" anchor="t">
            <a:spAutoFit/>
          </a:bodyPr>
          <a:lstStyle/>
          <a:p>
            <a:pPr algn="l">
              <a:lnSpc>
                <a:spcPts val="3359"/>
              </a:lnSpc>
            </a:pPr>
            <a:r>
              <a:rPr lang="en-US" sz="2400" b="1">
                <a:solidFill>
                  <a:srgbClr val="101010"/>
                </a:solidFill>
                <a:latin typeface="Inter Bold"/>
                <a:ea typeface="Inter Bold"/>
                <a:cs typeface="Inter Bold"/>
                <a:sym typeface="Inter Bold"/>
              </a:rPr>
              <a:t>George Malak</a:t>
            </a:r>
          </a:p>
        </p:txBody>
      </p:sp>
      <p:sp>
        <p:nvSpPr>
          <p:cNvPr id="28" name="TextBox 28"/>
          <p:cNvSpPr txBox="1"/>
          <p:nvPr/>
        </p:nvSpPr>
        <p:spPr>
          <a:xfrm>
            <a:off x="10173701" y="4260115"/>
            <a:ext cx="3376044" cy="405765"/>
          </a:xfrm>
          <a:prstGeom prst="rect">
            <a:avLst/>
          </a:prstGeom>
        </p:spPr>
        <p:txBody>
          <a:bodyPr lIns="0" tIns="0" rIns="0" bIns="0" rtlCol="0" anchor="t">
            <a:spAutoFit/>
          </a:bodyPr>
          <a:lstStyle/>
          <a:p>
            <a:pPr algn="l">
              <a:lnSpc>
                <a:spcPts val="3359"/>
              </a:lnSpc>
            </a:pPr>
            <a:r>
              <a:rPr lang="en-US" sz="2400" b="1">
                <a:solidFill>
                  <a:srgbClr val="101010"/>
                </a:solidFill>
                <a:latin typeface="Inter Bold"/>
                <a:ea typeface="Inter Bold"/>
                <a:cs typeface="Inter Bold"/>
                <a:sym typeface="Inter Bold"/>
              </a:rPr>
              <a:t>Ahmed Samir</a:t>
            </a:r>
          </a:p>
        </p:txBody>
      </p:sp>
      <p:sp>
        <p:nvSpPr>
          <p:cNvPr id="29" name="TextBox 29"/>
          <p:cNvSpPr txBox="1"/>
          <p:nvPr/>
        </p:nvSpPr>
        <p:spPr>
          <a:xfrm>
            <a:off x="1520754" y="4883785"/>
            <a:ext cx="3053226" cy="405765"/>
          </a:xfrm>
          <a:prstGeom prst="rect">
            <a:avLst/>
          </a:prstGeom>
        </p:spPr>
        <p:txBody>
          <a:bodyPr lIns="0" tIns="0" rIns="0" bIns="0" rtlCol="0" anchor="t">
            <a:spAutoFit/>
          </a:bodyPr>
          <a:lstStyle/>
          <a:p>
            <a:pPr algn="l">
              <a:lnSpc>
                <a:spcPts val="3359"/>
              </a:lnSpc>
            </a:pPr>
            <a:r>
              <a:rPr lang="en-US" sz="2400">
                <a:solidFill>
                  <a:srgbClr val="101010"/>
                </a:solidFill>
                <a:latin typeface="Inter"/>
                <a:ea typeface="Inter"/>
                <a:cs typeface="Inter"/>
                <a:sym typeface="Inter"/>
              </a:rPr>
              <a:t>Transformer</a:t>
            </a:r>
          </a:p>
        </p:txBody>
      </p:sp>
      <p:grpSp>
        <p:nvGrpSpPr>
          <p:cNvPr id="30" name="Group 30"/>
          <p:cNvGrpSpPr/>
          <p:nvPr/>
        </p:nvGrpSpPr>
        <p:grpSpPr>
          <a:xfrm>
            <a:off x="1260224" y="6117090"/>
            <a:ext cx="16540454" cy="2267243"/>
            <a:chOff x="0" y="0"/>
            <a:chExt cx="22053939" cy="3022990"/>
          </a:xfrm>
        </p:grpSpPr>
        <p:grpSp>
          <p:nvGrpSpPr>
            <p:cNvPr id="31" name="Group 31"/>
            <p:cNvGrpSpPr/>
            <p:nvPr/>
          </p:nvGrpSpPr>
          <p:grpSpPr>
            <a:xfrm>
              <a:off x="0" y="0"/>
              <a:ext cx="22053939" cy="3022990"/>
              <a:chOff x="0" y="0"/>
              <a:chExt cx="4356334" cy="597134"/>
            </a:xfrm>
          </p:grpSpPr>
          <p:sp>
            <p:nvSpPr>
              <p:cNvPr id="32" name="Freeform 32"/>
              <p:cNvSpPr/>
              <p:nvPr/>
            </p:nvSpPr>
            <p:spPr>
              <a:xfrm>
                <a:off x="0" y="0"/>
                <a:ext cx="4356334" cy="597134"/>
              </a:xfrm>
              <a:custGeom>
                <a:avLst/>
                <a:gdLst/>
                <a:ahLst/>
                <a:cxnLst/>
                <a:rect l="l" t="t" r="r" b="b"/>
                <a:pathLst>
                  <a:path w="4356334" h="597134">
                    <a:moveTo>
                      <a:pt x="23871" y="0"/>
                    </a:moveTo>
                    <a:lnTo>
                      <a:pt x="4332463" y="0"/>
                    </a:lnTo>
                    <a:cubicBezTo>
                      <a:pt x="4345646" y="0"/>
                      <a:pt x="4356334" y="10687"/>
                      <a:pt x="4356334" y="23871"/>
                    </a:cubicBezTo>
                    <a:lnTo>
                      <a:pt x="4356334" y="573263"/>
                    </a:lnTo>
                    <a:cubicBezTo>
                      <a:pt x="4356334" y="586446"/>
                      <a:pt x="4345646" y="597134"/>
                      <a:pt x="4332463" y="597134"/>
                    </a:cubicBezTo>
                    <a:lnTo>
                      <a:pt x="23871" y="597134"/>
                    </a:lnTo>
                    <a:cubicBezTo>
                      <a:pt x="10687" y="597134"/>
                      <a:pt x="0" y="586446"/>
                      <a:pt x="0" y="573263"/>
                    </a:cubicBezTo>
                    <a:lnTo>
                      <a:pt x="0" y="23871"/>
                    </a:lnTo>
                    <a:cubicBezTo>
                      <a:pt x="0" y="10687"/>
                      <a:pt x="10687" y="0"/>
                      <a:pt x="23871" y="0"/>
                    </a:cubicBezTo>
                    <a:close/>
                  </a:path>
                </a:pathLst>
              </a:custGeom>
              <a:solidFill>
                <a:srgbClr val="000000"/>
              </a:solidFill>
            </p:spPr>
          </p:sp>
          <p:sp>
            <p:nvSpPr>
              <p:cNvPr id="33" name="TextBox 33"/>
              <p:cNvSpPr txBox="1"/>
              <p:nvPr/>
            </p:nvSpPr>
            <p:spPr>
              <a:xfrm>
                <a:off x="0" y="-38100"/>
                <a:ext cx="4356334" cy="635234"/>
              </a:xfrm>
              <a:prstGeom prst="rect">
                <a:avLst/>
              </a:prstGeom>
            </p:spPr>
            <p:txBody>
              <a:bodyPr lIns="50800" tIns="50800" rIns="50800" bIns="50800" rtlCol="0" anchor="ctr"/>
              <a:lstStyle/>
              <a:p>
                <a:pPr algn="ctr">
                  <a:lnSpc>
                    <a:spcPts val="2940"/>
                  </a:lnSpc>
                </a:pPr>
                <a:endParaRPr/>
              </a:p>
            </p:txBody>
          </p:sp>
        </p:grpSp>
        <p:sp>
          <p:nvSpPr>
            <p:cNvPr id="34" name="TextBox 34"/>
            <p:cNvSpPr txBox="1"/>
            <p:nvPr/>
          </p:nvSpPr>
          <p:spPr>
            <a:xfrm>
              <a:off x="7422425" y="202122"/>
              <a:ext cx="6337692" cy="1062992"/>
            </a:xfrm>
            <a:prstGeom prst="rect">
              <a:avLst/>
            </a:prstGeom>
          </p:spPr>
          <p:txBody>
            <a:bodyPr lIns="0" tIns="0" rIns="0" bIns="0" rtlCol="0" anchor="t">
              <a:spAutoFit/>
            </a:bodyPr>
            <a:lstStyle/>
            <a:p>
              <a:pPr algn="l">
                <a:lnSpc>
                  <a:spcPts val="6719"/>
                </a:lnSpc>
              </a:pPr>
              <a:r>
                <a:rPr lang="en-US" sz="4799" b="1">
                  <a:solidFill>
                    <a:srgbClr val="F8F8F8"/>
                  </a:solidFill>
                  <a:latin typeface="Inter Bold"/>
                  <a:ea typeface="Inter Bold"/>
                  <a:cs typeface="Inter Bold"/>
                  <a:sym typeface="Inter Bold"/>
                </a:rPr>
                <a:t>Basel Mohamed</a:t>
              </a:r>
            </a:p>
          </p:txBody>
        </p:sp>
        <p:sp>
          <p:nvSpPr>
            <p:cNvPr id="35" name="TextBox 35"/>
            <p:cNvSpPr txBox="1"/>
            <p:nvPr/>
          </p:nvSpPr>
          <p:spPr>
            <a:xfrm>
              <a:off x="9384771" y="1463870"/>
              <a:ext cx="3284397" cy="525145"/>
            </a:xfrm>
            <a:prstGeom prst="rect">
              <a:avLst/>
            </a:prstGeom>
          </p:spPr>
          <p:txBody>
            <a:bodyPr lIns="0" tIns="0" rIns="0" bIns="0" rtlCol="0" anchor="t">
              <a:spAutoFit/>
            </a:bodyPr>
            <a:lstStyle/>
            <a:p>
              <a:pPr algn="l">
                <a:lnSpc>
                  <a:spcPts val="3359"/>
                </a:lnSpc>
              </a:pPr>
              <a:r>
                <a:rPr lang="en-US" sz="2400">
                  <a:solidFill>
                    <a:srgbClr val="F8F8F8"/>
                  </a:solidFill>
                  <a:latin typeface="Inter"/>
                  <a:ea typeface="Inter"/>
                  <a:cs typeface="Inter"/>
                  <a:sym typeface="Inter"/>
                </a:rPr>
                <a:t>LSTM</a:t>
              </a:r>
            </a:p>
          </p:txBody>
        </p:sp>
      </p:grpSp>
      <p:sp>
        <p:nvSpPr>
          <p:cNvPr id="36" name="TextBox 36"/>
          <p:cNvSpPr txBox="1"/>
          <p:nvPr/>
        </p:nvSpPr>
        <p:spPr>
          <a:xfrm>
            <a:off x="5894238" y="4883785"/>
            <a:ext cx="4279936" cy="405765"/>
          </a:xfrm>
          <a:prstGeom prst="rect">
            <a:avLst/>
          </a:prstGeom>
        </p:spPr>
        <p:txBody>
          <a:bodyPr lIns="0" tIns="0" rIns="0" bIns="0" rtlCol="0" anchor="t">
            <a:spAutoFit/>
          </a:bodyPr>
          <a:lstStyle/>
          <a:p>
            <a:pPr algn="l">
              <a:lnSpc>
                <a:spcPts val="3359"/>
              </a:lnSpc>
            </a:pPr>
            <a:r>
              <a:rPr lang="en-US" sz="2400">
                <a:solidFill>
                  <a:srgbClr val="101010"/>
                </a:solidFill>
                <a:latin typeface="Inter"/>
                <a:ea typeface="Inter"/>
                <a:cs typeface="Inter"/>
                <a:sym typeface="Inter"/>
              </a:rPr>
              <a:t>RNN </a:t>
            </a:r>
          </a:p>
        </p:txBody>
      </p:sp>
      <p:sp>
        <p:nvSpPr>
          <p:cNvPr id="37" name="TextBox 37"/>
          <p:cNvSpPr txBox="1"/>
          <p:nvPr/>
        </p:nvSpPr>
        <p:spPr>
          <a:xfrm>
            <a:off x="10173701" y="4883785"/>
            <a:ext cx="3741905" cy="405765"/>
          </a:xfrm>
          <a:prstGeom prst="rect">
            <a:avLst/>
          </a:prstGeom>
        </p:spPr>
        <p:txBody>
          <a:bodyPr lIns="0" tIns="0" rIns="0" bIns="0" rtlCol="0" anchor="t">
            <a:spAutoFit/>
          </a:bodyPr>
          <a:lstStyle/>
          <a:p>
            <a:pPr algn="l">
              <a:lnSpc>
                <a:spcPts val="3359"/>
              </a:lnSpc>
            </a:pPr>
            <a:r>
              <a:rPr lang="en-US" sz="2400">
                <a:solidFill>
                  <a:srgbClr val="101010"/>
                </a:solidFill>
                <a:latin typeface="Inter"/>
                <a:ea typeface="Inter"/>
                <a:cs typeface="Inter"/>
                <a:sym typeface="Inter"/>
              </a:rPr>
              <a:t>Deployment</a:t>
            </a:r>
          </a:p>
        </p:txBody>
      </p:sp>
      <p:grpSp>
        <p:nvGrpSpPr>
          <p:cNvPr id="38" name="Group 38"/>
          <p:cNvGrpSpPr/>
          <p:nvPr/>
        </p:nvGrpSpPr>
        <p:grpSpPr>
          <a:xfrm>
            <a:off x="13885659" y="3878420"/>
            <a:ext cx="4179583" cy="1848143"/>
            <a:chOff x="0" y="0"/>
            <a:chExt cx="5572777" cy="2464190"/>
          </a:xfrm>
        </p:grpSpPr>
        <p:grpSp>
          <p:nvGrpSpPr>
            <p:cNvPr id="39" name="Group 39"/>
            <p:cNvGrpSpPr/>
            <p:nvPr/>
          </p:nvGrpSpPr>
          <p:grpSpPr>
            <a:xfrm>
              <a:off x="0" y="0"/>
              <a:ext cx="4752442" cy="2464190"/>
              <a:chOff x="0" y="0"/>
              <a:chExt cx="938754" cy="486754"/>
            </a:xfrm>
          </p:grpSpPr>
          <p:sp>
            <p:nvSpPr>
              <p:cNvPr id="40" name="Freeform 40"/>
              <p:cNvSpPr/>
              <p:nvPr/>
            </p:nvSpPr>
            <p:spPr>
              <a:xfrm>
                <a:off x="0" y="0"/>
                <a:ext cx="938754" cy="486754"/>
              </a:xfrm>
              <a:custGeom>
                <a:avLst/>
                <a:gdLst/>
                <a:ahLst/>
                <a:cxnLst/>
                <a:rect l="l" t="t" r="r" b="b"/>
                <a:pathLst>
                  <a:path w="938754" h="486754">
                    <a:moveTo>
                      <a:pt x="110775" y="0"/>
                    </a:moveTo>
                    <a:lnTo>
                      <a:pt x="827979" y="0"/>
                    </a:lnTo>
                    <a:cubicBezTo>
                      <a:pt x="857359" y="0"/>
                      <a:pt x="885535" y="11671"/>
                      <a:pt x="906309" y="32445"/>
                    </a:cubicBezTo>
                    <a:cubicBezTo>
                      <a:pt x="927083" y="53219"/>
                      <a:pt x="938754" y="81395"/>
                      <a:pt x="938754" y="110775"/>
                    </a:cubicBezTo>
                    <a:lnTo>
                      <a:pt x="938754" y="375979"/>
                    </a:lnTo>
                    <a:cubicBezTo>
                      <a:pt x="938754" y="405358"/>
                      <a:pt x="927083" y="433534"/>
                      <a:pt x="906309" y="454308"/>
                    </a:cubicBezTo>
                    <a:cubicBezTo>
                      <a:pt x="885535" y="475083"/>
                      <a:pt x="857359" y="486754"/>
                      <a:pt x="827979" y="486754"/>
                    </a:cubicBezTo>
                    <a:lnTo>
                      <a:pt x="110775" y="486754"/>
                    </a:lnTo>
                    <a:cubicBezTo>
                      <a:pt x="81395" y="486754"/>
                      <a:pt x="53219" y="475083"/>
                      <a:pt x="32445" y="454308"/>
                    </a:cubicBezTo>
                    <a:cubicBezTo>
                      <a:pt x="11671" y="433534"/>
                      <a:pt x="0" y="405358"/>
                      <a:pt x="0" y="375979"/>
                    </a:cubicBezTo>
                    <a:lnTo>
                      <a:pt x="0" y="110775"/>
                    </a:lnTo>
                    <a:cubicBezTo>
                      <a:pt x="0" y="81395"/>
                      <a:pt x="11671" y="53219"/>
                      <a:pt x="32445" y="32445"/>
                    </a:cubicBezTo>
                    <a:cubicBezTo>
                      <a:pt x="53219" y="11671"/>
                      <a:pt x="81395" y="0"/>
                      <a:pt x="110775" y="0"/>
                    </a:cubicBezTo>
                    <a:close/>
                  </a:path>
                </a:pathLst>
              </a:custGeom>
              <a:ln w="19050" cap="rnd">
                <a:solidFill>
                  <a:srgbClr val="000000"/>
                </a:solidFill>
                <a:prstDash val="solid"/>
                <a:round/>
              </a:ln>
            </p:spPr>
          </p:sp>
          <p:sp>
            <p:nvSpPr>
              <p:cNvPr id="41" name="TextBox 41"/>
              <p:cNvSpPr txBox="1"/>
              <p:nvPr/>
            </p:nvSpPr>
            <p:spPr>
              <a:xfrm>
                <a:off x="0" y="-38100"/>
                <a:ext cx="938754" cy="524854"/>
              </a:xfrm>
              <a:prstGeom prst="rect">
                <a:avLst/>
              </a:prstGeom>
            </p:spPr>
            <p:txBody>
              <a:bodyPr lIns="50800" tIns="50800" rIns="50800" bIns="50800" rtlCol="0" anchor="ctr"/>
              <a:lstStyle/>
              <a:p>
                <a:pPr algn="ctr">
                  <a:lnSpc>
                    <a:spcPts val="2940"/>
                  </a:lnSpc>
                </a:pPr>
                <a:endParaRPr/>
              </a:p>
            </p:txBody>
          </p:sp>
        </p:grpSp>
        <p:sp>
          <p:nvSpPr>
            <p:cNvPr id="42" name="TextBox 42"/>
            <p:cNvSpPr txBox="1"/>
            <p:nvPr/>
          </p:nvSpPr>
          <p:spPr>
            <a:xfrm>
              <a:off x="583570" y="524802"/>
              <a:ext cx="4501392" cy="525145"/>
            </a:xfrm>
            <a:prstGeom prst="rect">
              <a:avLst/>
            </a:prstGeom>
          </p:spPr>
          <p:txBody>
            <a:bodyPr lIns="0" tIns="0" rIns="0" bIns="0" rtlCol="0" anchor="t">
              <a:spAutoFit/>
            </a:bodyPr>
            <a:lstStyle/>
            <a:p>
              <a:pPr algn="l">
                <a:lnSpc>
                  <a:spcPts val="3359"/>
                </a:lnSpc>
              </a:pPr>
              <a:r>
                <a:rPr lang="en-US" sz="2400" b="1">
                  <a:solidFill>
                    <a:srgbClr val="101010"/>
                  </a:solidFill>
                  <a:latin typeface="Inter Bold"/>
                  <a:ea typeface="Inter Bold"/>
                  <a:cs typeface="Inter Bold"/>
                  <a:sym typeface="Inter Bold"/>
                </a:rPr>
                <a:t>Amr Khalid</a:t>
              </a:r>
            </a:p>
          </p:txBody>
        </p:sp>
        <p:sp>
          <p:nvSpPr>
            <p:cNvPr id="43" name="TextBox 43"/>
            <p:cNvSpPr txBox="1"/>
            <p:nvPr/>
          </p:nvSpPr>
          <p:spPr>
            <a:xfrm>
              <a:off x="583570" y="1356362"/>
              <a:ext cx="4989207" cy="525145"/>
            </a:xfrm>
            <a:prstGeom prst="rect">
              <a:avLst/>
            </a:prstGeom>
          </p:spPr>
          <p:txBody>
            <a:bodyPr lIns="0" tIns="0" rIns="0" bIns="0" rtlCol="0" anchor="t">
              <a:spAutoFit/>
            </a:bodyPr>
            <a:lstStyle/>
            <a:p>
              <a:pPr algn="l">
                <a:lnSpc>
                  <a:spcPts val="3359"/>
                </a:lnSpc>
              </a:pPr>
              <a:r>
                <a:rPr lang="en-US" sz="2400">
                  <a:solidFill>
                    <a:srgbClr val="101010"/>
                  </a:solidFill>
                  <a:latin typeface="Inter"/>
                  <a:ea typeface="Inter"/>
                  <a:cs typeface="Inter"/>
                  <a:sym typeface="Inter"/>
                </a:rPr>
                <a:t>GRU</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grpSp>
        <p:nvGrpSpPr>
          <p:cNvPr id="2" name="Group 2"/>
          <p:cNvGrpSpPr/>
          <p:nvPr/>
        </p:nvGrpSpPr>
        <p:grpSpPr>
          <a:xfrm>
            <a:off x="13363317" y="1028700"/>
            <a:ext cx="2744722" cy="622420"/>
            <a:chOff x="0" y="0"/>
            <a:chExt cx="722890" cy="163930"/>
          </a:xfrm>
        </p:grpSpPr>
        <p:sp>
          <p:nvSpPr>
            <p:cNvPr id="3" name="Freeform 3"/>
            <p:cNvSpPr/>
            <p:nvPr/>
          </p:nvSpPr>
          <p:spPr>
            <a:xfrm>
              <a:off x="0" y="0"/>
              <a:ext cx="722890" cy="163930"/>
            </a:xfrm>
            <a:custGeom>
              <a:avLst/>
              <a:gdLst/>
              <a:ahLst/>
              <a:cxnLst/>
              <a:rect l="l" t="t" r="r" b="b"/>
              <a:pathLst>
                <a:path w="722890" h="163930">
                  <a:moveTo>
                    <a:pt x="81965" y="0"/>
                  </a:moveTo>
                  <a:lnTo>
                    <a:pt x="640925" y="0"/>
                  </a:lnTo>
                  <a:cubicBezTo>
                    <a:pt x="686193" y="0"/>
                    <a:pt x="722890" y="36697"/>
                    <a:pt x="722890" y="81965"/>
                  </a:cubicBezTo>
                  <a:lnTo>
                    <a:pt x="722890" y="81965"/>
                  </a:lnTo>
                  <a:cubicBezTo>
                    <a:pt x="722890" y="103703"/>
                    <a:pt x="714254" y="124551"/>
                    <a:pt x="698883" y="139923"/>
                  </a:cubicBezTo>
                  <a:cubicBezTo>
                    <a:pt x="683511" y="155294"/>
                    <a:pt x="662663" y="163930"/>
                    <a:pt x="640925" y="163930"/>
                  </a:cubicBezTo>
                  <a:lnTo>
                    <a:pt x="81965" y="163930"/>
                  </a:lnTo>
                  <a:cubicBezTo>
                    <a:pt x="36697" y="163930"/>
                    <a:pt x="0" y="127233"/>
                    <a:pt x="0" y="81965"/>
                  </a:cubicBezTo>
                  <a:lnTo>
                    <a:pt x="0" y="81965"/>
                  </a:lnTo>
                  <a:cubicBezTo>
                    <a:pt x="0" y="36697"/>
                    <a:pt x="36697" y="0"/>
                    <a:pt x="81965" y="0"/>
                  </a:cubicBezTo>
                  <a:close/>
                </a:path>
              </a:pathLst>
            </a:custGeom>
            <a:ln w="19050" cap="rnd">
              <a:solidFill>
                <a:srgbClr val="000000"/>
              </a:solidFill>
              <a:prstDash val="solid"/>
              <a:round/>
            </a:ln>
          </p:spPr>
        </p:sp>
        <p:sp>
          <p:nvSpPr>
            <p:cNvPr id="4" name="TextBox 4"/>
            <p:cNvSpPr txBox="1"/>
            <p:nvPr/>
          </p:nvSpPr>
          <p:spPr>
            <a:xfrm>
              <a:off x="0" y="-38100"/>
              <a:ext cx="722890" cy="202030"/>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028700" y="2514550"/>
            <a:ext cx="9686751" cy="5245101"/>
          </a:xfrm>
          <a:prstGeom prst="rect">
            <a:avLst/>
          </a:prstGeom>
        </p:spPr>
        <p:txBody>
          <a:bodyPr lIns="0" tIns="0" rIns="0" bIns="0" rtlCol="0" anchor="t">
            <a:spAutoFit/>
          </a:bodyPr>
          <a:lstStyle/>
          <a:p>
            <a:pPr algn="l">
              <a:lnSpc>
                <a:spcPts val="20200"/>
              </a:lnSpc>
            </a:pPr>
            <a:r>
              <a:rPr lang="en-US" sz="20000">
                <a:solidFill>
                  <a:srgbClr val="000000"/>
                </a:solidFill>
                <a:latin typeface="Inter"/>
                <a:ea typeface="Inter"/>
                <a:cs typeface="Inter"/>
                <a:sym typeface="Inter"/>
              </a:rPr>
              <a:t>Thank You</a:t>
            </a:r>
          </a:p>
        </p:txBody>
      </p:sp>
      <p:sp>
        <p:nvSpPr>
          <p:cNvPr id="6" name="TextBox 6"/>
          <p:cNvSpPr txBox="1"/>
          <p:nvPr/>
        </p:nvSpPr>
        <p:spPr>
          <a:xfrm>
            <a:off x="13534006" y="1138913"/>
            <a:ext cx="2403344" cy="356235"/>
          </a:xfrm>
          <a:prstGeom prst="rect">
            <a:avLst/>
          </a:prstGeom>
        </p:spPr>
        <p:txBody>
          <a:bodyPr lIns="0" tIns="0" rIns="0" bIns="0" rtlCol="0" anchor="t">
            <a:spAutoFit/>
          </a:bodyPr>
          <a:lstStyle/>
          <a:p>
            <a:pPr algn="ctr">
              <a:lnSpc>
                <a:spcPts val="2940"/>
              </a:lnSpc>
            </a:pPr>
            <a:r>
              <a:rPr lang="en-US" sz="2100" spc="-98">
                <a:solidFill>
                  <a:srgbClr val="424242"/>
                </a:solidFill>
                <a:latin typeface="Inter"/>
                <a:ea typeface="Inter"/>
                <a:cs typeface="Inter"/>
                <a:sym typeface="Inter"/>
              </a:rPr>
              <a:t>May 14, 2026</a:t>
            </a:r>
          </a:p>
        </p:txBody>
      </p:sp>
      <p:sp>
        <p:nvSpPr>
          <p:cNvPr id="7" name="AutoShape 7"/>
          <p:cNvSpPr/>
          <p:nvPr/>
        </p:nvSpPr>
        <p:spPr>
          <a:xfrm>
            <a:off x="953566" y="8048457"/>
            <a:ext cx="16305734" cy="0"/>
          </a:xfrm>
          <a:prstGeom prst="line">
            <a:avLst/>
          </a:prstGeom>
          <a:ln w="19050" cap="flat">
            <a:solidFill>
              <a:srgbClr val="000000"/>
            </a:solidFill>
            <a:prstDash val="solid"/>
            <a:headEnd type="none" w="sm" len="sm"/>
            <a:tailEnd type="none" w="sm" len="sm"/>
          </a:ln>
        </p:spPr>
      </p:sp>
      <p:sp>
        <p:nvSpPr>
          <p:cNvPr id="8" name="TextBox 8"/>
          <p:cNvSpPr txBox="1"/>
          <p:nvPr/>
        </p:nvSpPr>
        <p:spPr>
          <a:xfrm>
            <a:off x="1028700" y="8586933"/>
            <a:ext cx="1651737" cy="281559"/>
          </a:xfrm>
          <a:prstGeom prst="rect">
            <a:avLst/>
          </a:prstGeom>
        </p:spPr>
        <p:txBody>
          <a:bodyPr lIns="0" tIns="0" rIns="0" bIns="0" rtlCol="0" anchor="t">
            <a:spAutoFit/>
          </a:bodyPr>
          <a:lstStyle/>
          <a:p>
            <a:pPr algn="l">
              <a:lnSpc>
                <a:spcPts val="2268"/>
              </a:lnSpc>
            </a:pPr>
            <a:r>
              <a:rPr lang="en-US" sz="1800" b="1" spc="-100">
                <a:solidFill>
                  <a:srgbClr val="101010"/>
                </a:solidFill>
                <a:latin typeface="Inter Bold"/>
                <a:ea typeface="Inter Bold"/>
                <a:cs typeface="Inter Bold"/>
                <a:sym typeface="Inter Bold"/>
              </a:rPr>
              <a:t>Presented by :</a:t>
            </a:r>
          </a:p>
        </p:txBody>
      </p:sp>
      <p:sp>
        <p:nvSpPr>
          <p:cNvPr id="9" name="TextBox 9"/>
          <p:cNvSpPr txBox="1"/>
          <p:nvPr/>
        </p:nvSpPr>
        <p:spPr>
          <a:xfrm>
            <a:off x="1028700" y="8978265"/>
            <a:ext cx="3450154" cy="567309"/>
          </a:xfrm>
          <a:prstGeom prst="rect">
            <a:avLst/>
          </a:prstGeom>
        </p:spPr>
        <p:txBody>
          <a:bodyPr lIns="0" tIns="0" rIns="0" bIns="0" rtlCol="0" anchor="t">
            <a:spAutoFit/>
          </a:bodyPr>
          <a:lstStyle/>
          <a:p>
            <a:pPr algn="l">
              <a:lnSpc>
                <a:spcPts val="2268"/>
              </a:lnSpc>
            </a:pPr>
            <a:r>
              <a:rPr lang="en-US" sz="1800" spc="-100">
                <a:solidFill>
                  <a:srgbClr val="101010"/>
                </a:solidFill>
                <a:latin typeface="Inter"/>
                <a:ea typeface="Inter"/>
                <a:cs typeface="Inter"/>
                <a:sym typeface="Inter"/>
              </a:rPr>
              <a:t>Ahmed, Amr, Basel, George and Mohamed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1030</Words>
  <Application>Microsoft Office PowerPoint</Application>
  <PresentationFormat>Custom</PresentationFormat>
  <Paragraphs>95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Inter</vt:lpstr>
      <vt:lpstr>Inter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paragraph text</dc:title>
  <dc:creator>Dell</dc:creator>
  <cp:lastModifiedBy>rehamhelayelbasel@gmail.com</cp:lastModifiedBy>
  <cp:revision>1</cp:revision>
  <dcterms:created xsi:type="dcterms:W3CDTF">2006-08-16T00:00:00Z</dcterms:created>
  <dcterms:modified xsi:type="dcterms:W3CDTF">2026-05-13T21:07:17Z</dcterms:modified>
  <dc:identifier>DAHJk5oyIWY</dc:identifier>
</cp:coreProperties>
</file>